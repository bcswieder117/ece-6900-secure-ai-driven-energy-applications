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8288000" cy="10287000"/>
  <p:notesSz cx="6858000" cy="9144000"/>
  <p:embeddedFontLst>
    <p:embeddedFont>
      <p:font typeface="Helvetica World" panose="020B0604020202020204" charset="-128"/>
      <p:regular r:id="rId19"/>
    </p:embeddedFont>
    <p:embeddedFont>
      <p:font typeface="Helvetica World Bold" panose="020B0604020202020204" charset="-128"/>
      <p:regular r:id="rId20"/>
    </p:embeddedFont>
    <p:embeddedFont>
      <p:font typeface="Alex Brush" panose="020B0604020202020204" charset="0"/>
      <p:regular r:id="rId21"/>
    </p:embeddedFont>
    <p:embeddedFont>
      <p:font typeface="Brittany" panose="020B0604020202020204" charset="0"/>
      <p:regular r:id="rId22"/>
    </p:embeddedFont>
    <p:embeddedFont>
      <p:font typeface="Georgia Pro Condense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5B7AA6-162B-69FD-70B3-AB37426EE673}" v="2" dt="2026-02-15T22:48:21.1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3" d="100"/>
          <a:sy n="53" d="100"/>
        </p:scale>
        <p:origin x="68"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font" Target="fonts/font3.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2.fntdata"/><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5.fntdata"/><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font" Target="fonts/font1.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4.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son, Cameron (cmjohnson48)" userId="S::cmjohnson48@tntech.edu::a23667b0-dc3a-4caf-9335-22757f37650a" providerId="AD" clId="Web-{0F5B7AA6-162B-69FD-70B3-AB37426EE673}"/>
    <pc:docChg chg="modSld">
      <pc:chgData name="Johnson, Cameron (cmjohnson48)" userId="S::cmjohnson48@tntech.edu::a23667b0-dc3a-4caf-9335-22757f37650a" providerId="AD" clId="Web-{0F5B7AA6-162B-69FD-70B3-AB37426EE673}" dt="2026-02-15T22:48:21.132" v="1" actId="14100"/>
      <pc:docMkLst>
        <pc:docMk/>
      </pc:docMkLst>
      <pc:sldChg chg="modSp">
        <pc:chgData name="Johnson, Cameron (cmjohnson48)" userId="S::cmjohnson48@tntech.edu::a23667b0-dc3a-4caf-9335-22757f37650a" providerId="AD" clId="Web-{0F5B7AA6-162B-69FD-70B3-AB37426EE673}" dt="2026-02-15T22:48:21.132" v="1" actId="14100"/>
        <pc:sldMkLst>
          <pc:docMk/>
          <pc:sldMk cId="0" sldId="261"/>
        </pc:sldMkLst>
        <pc:grpChg chg="mod">
          <ac:chgData name="Johnson, Cameron (cmjohnson48)" userId="S::cmjohnson48@tntech.edu::a23667b0-dc3a-4caf-9335-22757f37650a" providerId="AD" clId="Web-{0F5B7AA6-162B-69FD-70B3-AB37426EE673}" dt="2026-02-15T22:48:21.132" v="1" actId="14100"/>
          <ac:grpSpMkLst>
            <pc:docMk/>
            <pc:sldMk cId="0" sldId="261"/>
            <ac:grpSpMk id="5" creationId="{00000000-0000-0000-0000-000000000000}"/>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935"/>
        </a:solidFill>
        <a:effectLst/>
      </p:bgPr>
    </p:bg>
    <p:spTree>
      <p:nvGrpSpPr>
        <p:cNvPr id="1" name=""/>
        <p:cNvGrpSpPr/>
        <p:nvPr/>
      </p:nvGrpSpPr>
      <p:grpSpPr>
        <a:xfrm>
          <a:off x="0" y="0"/>
          <a:ext cx="0" cy="0"/>
          <a:chOff x="0" y="0"/>
          <a:chExt cx="0" cy="0"/>
        </a:xfrm>
      </p:grpSpPr>
      <p:grpSp>
        <p:nvGrpSpPr>
          <p:cNvPr id="2" name="Group 2"/>
          <p:cNvGrpSpPr/>
          <p:nvPr/>
        </p:nvGrpSpPr>
        <p:grpSpPr>
          <a:xfrm>
            <a:off x="0" y="-12700"/>
            <a:ext cx="11201400" cy="10299700"/>
            <a:chOff x="0" y="0"/>
            <a:chExt cx="963348" cy="885799"/>
          </a:xfrm>
        </p:grpSpPr>
        <p:sp>
          <p:nvSpPr>
            <p:cNvPr id="3" name="Freeform 3"/>
            <p:cNvSpPr/>
            <p:nvPr/>
          </p:nvSpPr>
          <p:spPr>
            <a:xfrm>
              <a:off x="0" y="0"/>
              <a:ext cx="963348" cy="885799"/>
            </a:xfrm>
            <a:custGeom>
              <a:avLst/>
              <a:gdLst/>
              <a:ahLst/>
              <a:cxnLst/>
              <a:rect l="l" t="t" r="r" b="b"/>
              <a:pathLst>
                <a:path w="963348" h="885799">
                  <a:moveTo>
                    <a:pt x="0" y="0"/>
                  </a:moveTo>
                  <a:lnTo>
                    <a:pt x="963348" y="0"/>
                  </a:lnTo>
                  <a:lnTo>
                    <a:pt x="963348" y="885799"/>
                  </a:lnTo>
                  <a:lnTo>
                    <a:pt x="0" y="885799"/>
                  </a:lnTo>
                  <a:close/>
                </a:path>
              </a:pathLst>
            </a:custGeom>
            <a:solidFill>
              <a:srgbClr val="4FB6E1"/>
            </a:solidFill>
          </p:spPr>
        </p:sp>
      </p:grpSp>
      <p:grpSp>
        <p:nvGrpSpPr>
          <p:cNvPr id="4" name="Group 4"/>
          <p:cNvGrpSpPr/>
          <p:nvPr/>
        </p:nvGrpSpPr>
        <p:grpSpPr>
          <a:xfrm>
            <a:off x="11868150" y="666750"/>
            <a:ext cx="5753100" cy="8953500"/>
            <a:chOff x="0" y="0"/>
            <a:chExt cx="814724" cy="1267949"/>
          </a:xfrm>
        </p:grpSpPr>
        <p:sp>
          <p:nvSpPr>
            <p:cNvPr id="5" name="Freeform 5"/>
            <p:cNvSpPr/>
            <p:nvPr/>
          </p:nvSpPr>
          <p:spPr>
            <a:xfrm>
              <a:off x="0" y="0"/>
              <a:ext cx="814724" cy="1267949"/>
            </a:xfrm>
            <a:custGeom>
              <a:avLst/>
              <a:gdLst/>
              <a:ahLst/>
              <a:cxnLst/>
              <a:rect l="l" t="t" r="r" b="b"/>
              <a:pathLst>
                <a:path w="814724" h="1267949">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2"/>
              <a:stretch>
                <a:fillRect l="-66794" r="-66794"/>
              </a:stretch>
            </a:blipFill>
          </p:spPr>
        </p:sp>
      </p:grpSp>
      <p:sp>
        <p:nvSpPr>
          <p:cNvPr id="6" name="TextBox 6"/>
          <p:cNvSpPr txBox="1"/>
          <p:nvPr/>
        </p:nvSpPr>
        <p:spPr>
          <a:xfrm>
            <a:off x="666750" y="6534785"/>
            <a:ext cx="8721930" cy="3085465"/>
          </a:xfrm>
          <a:prstGeom prst="rect">
            <a:avLst/>
          </a:prstGeom>
        </p:spPr>
        <p:txBody>
          <a:bodyPr lIns="0" tIns="0" rIns="0" bIns="0" rtlCol="0" anchor="t">
            <a:spAutoFit/>
          </a:bodyPr>
          <a:lstStyle/>
          <a:p>
            <a:pPr algn="l">
              <a:lnSpc>
                <a:spcPts val="4940"/>
              </a:lnSpc>
            </a:pPr>
            <a:r>
              <a:rPr lang="en-US" sz="3800" spc="-57">
                <a:solidFill>
                  <a:srgbClr val="1A2935"/>
                </a:solidFill>
                <a:latin typeface="Helvetica World"/>
                <a:ea typeface="Helvetica World"/>
                <a:cs typeface="Helvetica World"/>
                <a:sym typeface="Helvetica World"/>
              </a:rPr>
              <a:t>Group Members:</a:t>
            </a:r>
          </a:p>
          <a:p>
            <a:pPr marL="820421" lvl="1" indent="-410210" algn="l">
              <a:lnSpc>
                <a:spcPts val="4940"/>
              </a:lnSpc>
              <a:buFont typeface="Arial"/>
              <a:buChar char="•"/>
            </a:pPr>
            <a:r>
              <a:rPr lang="en-US" sz="3800" spc="-57">
                <a:solidFill>
                  <a:srgbClr val="1A2935"/>
                </a:solidFill>
                <a:latin typeface="Helvetica World"/>
                <a:ea typeface="Helvetica World"/>
                <a:cs typeface="Helvetica World"/>
                <a:sym typeface="Helvetica World"/>
              </a:rPr>
              <a:t>Samuel Howard</a:t>
            </a:r>
          </a:p>
          <a:p>
            <a:pPr marL="820421" lvl="1" indent="-410210" algn="l">
              <a:lnSpc>
                <a:spcPts val="4940"/>
              </a:lnSpc>
              <a:buFont typeface="Arial"/>
              <a:buChar char="•"/>
            </a:pPr>
            <a:r>
              <a:rPr lang="en-US" sz="3800" spc="-57">
                <a:solidFill>
                  <a:srgbClr val="1A2935"/>
                </a:solidFill>
                <a:latin typeface="Helvetica World"/>
                <a:ea typeface="Helvetica World"/>
                <a:cs typeface="Helvetica World"/>
                <a:sym typeface="Helvetica World"/>
              </a:rPr>
              <a:t>Cameron Johnson</a:t>
            </a:r>
          </a:p>
          <a:p>
            <a:pPr marL="820421" lvl="1" indent="-410210" algn="l">
              <a:lnSpc>
                <a:spcPts val="4940"/>
              </a:lnSpc>
              <a:buFont typeface="Arial"/>
              <a:buChar char="•"/>
            </a:pPr>
            <a:r>
              <a:rPr lang="en-US" sz="3800" spc="-57">
                <a:solidFill>
                  <a:srgbClr val="1A2935"/>
                </a:solidFill>
                <a:latin typeface="Helvetica World"/>
                <a:ea typeface="Helvetica World"/>
                <a:cs typeface="Helvetica World"/>
                <a:sym typeface="Helvetica World"/>
              </a:rPr>
              <a:t>April Crockett</a:t>
            </a:r>
          </a:p>
          <a:p>
            <a:pPr marL="820421" lvl="1" indent="-410210" algn="l">
              <a:lnSpc>
                <a:spcPts val="4940"/>
              </a:lnSpc>
              <a:buFont typeface="Arial"/>
              <a:buChar char="•"/>
            </a:pPr>
            <a:r>
              <a:rPr lang="en-US" sz="3800" spc="-57">
                <a:solidFill>
                  <a:srgbClr val="1A2935"/>
                </a:solidFill>
                <a:latin typeface="Helvetica World"/>
                <a:ea typeface="Helvetica World"/>
                <a:cs typeface="Helvetica World"/>
                <a:sym typeface="Helvetica World"/>
              </a:rPr>
              <a:t>Blaine Swieder</a:t>
            </a:r>
          </a:p>
        </p:txBody>
      </p:sp>
      <p:sp>
        <p:nvSpPr>
          <p:cNvPr id="7" name="TextBox 7"/>
          <p:cNvSpPr txBox="1"/>
          <p:nvPr/>
        </p:nvSpPr>
        <p:spPr>
          <a:xfrm>
            <a:off x="675380" y="879818"/>
            <a:ext cx="9754495" cy="3873499"/>
          </a:xfrm>
          <a:prstGeom prst="rect">
            <a:avLst/>
          </a:prstGeom>
        </p:spPr>
        <p:txBody>
          <a:bodyPr lIns="0" tIns="0" rIns="0" bIns="0" rtlCol="0" anchor="t">
            <a:spAutoFit/>
          </a:bodyPr>
          <a:lstStyle/>
          <a:p>
            <a:pPr marL="0" lvl="0" indent="0" algn="l">
              <a:lnSpc>
                <a:spcPts val="9999"/>
              </a:lnSpc>
            </a:pPr>
            <a:r>
              <a:rPr lang="en-US" sz="9999" u="none" strike="noStrike" spc="-349">
                <a:solidFill>
                  <a:srgbClr val="1A2935"/>
                </a:solidFill>
                <a:latin typeface="Georgia Pro Condensed"/>
                <a:ea typeface="Georgia Pro Condensed"/>
                <a:cs typeface="Georgia Pro Condensed"/>
                <a:sym typeface="Georgia Pro Condensed"/>
              </a:rPr>
              <a:t>VoltWatch: Secure AI Monitoring of Smart Energy Grids</a:t>
            </a:r>
          </a:p>
        </p:txBody>
      </p:sp>
      <p:sp>
        <p:nvSpPr>
          <p:cNvPr id="8" name="TextBox 8"/>
          <p:cNvSpPr txBox="1"/>
          <p:nvPr/>
        </p:nvSpPr>
        <p:spPr>
          <a:xfrm>
            <a:off x="0" y="4909766"/>
            <a:ext cx="10735464" cy="750279"/>
          </a:xfrm>
          <a:prstGeom prst="rect">
            <a:avLst/>
          </a:prstGeom>
        </p:spPr>
        <p:txBody>
          <a:bodyPr lIns="0" tIns="0" rIns="0" bIns="0" rtlCol="0" anchor="t">
            <a:spAutoFit/>
          </a:bodyPr>
          <a:lstStyle/>
          <a:p>
            <a:pPr marL="0" lvl="0" indent="0" algn="ctr">
              <a:lnSpc>
                <a:spcPts val="6080"/>
              </a:lnSpc>
            </a:pPr>
            <a:r>
              <a:rPr lang="en-US" sz="4677" u="none" strike="noStrike" spc="-70">
                <a:solidFill>
                  <a:srgbClr val="1A2935"/>
                </a:solidFill>
                <a:latin typeface="Brittany"/>
                <a:ea typeface="Brittany"/>
                <a:cs typeface="Brittany"/>
                <a:sym typeface="Brittany"/>
              </a:rPr>
              <a:t>Group Project Proposal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55D4A"/>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457450"/>
            <a:chOff x="0" y="0"/>
            <a:chExt cx="4816593" cy="647230"/>
          </a:xfrm>
        </p:grpSpPr>
        <p:sp>
          <p:nvSpPr>
            <p:cNvPr id="3" name="Freeform 3"/>
            <p:cNvSpPr/>
            <p:nvPr/>
          </p:nvSpPr>
          <p:spPr>
            <a:xfrm>
              <a:off x="0" y="0"/>
              <a:ext cx="4816592" cy="647230"/>
            </a:xfrm>
            <a:custGeom>
              <a:avLst/>
              <a:gdLst/>
              <a:ahLst/>
              <a:cxnLst/>
              <a:rect l="l" t="t" r="r" b="b"/>
              <a:pathLst>
                <a:path w="4816592" h="647230">
                  <a:moveTo>
                    <a:pt x="0" y="0"/>
                  </a:moveTo>
                  <a:lnTo>
                    <a:pt x="4816592" y="0"/>
                  </a:lnTo>
                  <a:lnTo>
                    <a:pt x="4816592" y="647230"/>
                  </a:lnTo>
                  <a:lnTo>
                    <a:pt x="0" y="647230"/>
                  </a:lnTo>
                  <a:close/>
                </a:path>
              </a:pathLst>
            </a:custGeom>
            <a:solidFill>
              <a:srgbClr val="A0D8EF"/>
            </a:solidFill>
          </p:spPr>
        </p:sp>
        <p:sp>
          <p:nvSpPr>
            <p:cNvPr id="4" name="TextBox 4"/>
            <p:cNvSpPr txBox="1"/>
            <p:nvPr/>
          </p:nvSpPr>
          <p:spPr>
            <a:xfrm>
              <a:off x="0" y="-38100"/>
              <a:ext cx="4816593" cy="685330"/>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666750" y="3142270"/>
            <a:ext cx="10621518" cy="6497638"/>
            <a:chOff x="0" y="0"/>
            <a:chExt cx="2797437" cy="1711312"/>
          </a:xfrm>
        </p:grpSpPr>
        <p:sp>
          <p:nvSpPr>
            <p:cNvPr id="6" name="Freeform 6"/>
            <p:cNvSpPr/>
            <p:nvPr/>
          </p:nvSpPr>
          <p:spPr>
            <a:xfrm>
              <a:off x="0" y="0"/>
              <a:ext cx="2797437" cy="1711312"/>
            </a:xfrm>
            <a:custGeom>
              <a:avLst/>
              <a:gdLst/>
              <a:ahLst/>
              <a:cxnLst/>
              <a:rect l="l" t="t" r="r" b="b"/>
              <a:pathLst>
                <a:path w="2797437" h="1711312">
                  <a:moveTo>
                    <a:pt x="0" y="0"/>
                  </a:moveTo>
                  <a:lnTo>
                    <a:pt x="2797437" y="0"/>
                  </a:lnTo>
                  <a:lnTo>
                    <a:pt x="2797437" y="1711312"/>
                  </a:lnTo>
                  <a:lnTo>
                    <a:pt x="0" y="1711312"/>
                  </a:lnTo>
                  <a:close/>
                </a:path>
              </a:pathLst>
            </a:custGeom>
            <a:solidFill>
              <a:srgbClr val="FFFFFF"/>
            </a:solidFill>
            <a:ln w="66675" cap="sq">
              <a:solidFill>
                <a:srgbClr val="4FB6E1"/>
              </a:solidFill>
              <a:prstDash val="dash"/>
              <a:miter/>
            </a:ln>
          </p:spPr>
        </p:sp>
        <p:sp>
          <p:nvSpPr>
            <p:cNvPr id="7" name="TextBox 7"/>
            <p:cNvSpPr txBox="1"/>
            <p:nvPr/>
          </p:nvSpPr>
          <p:spPr>
            <a:xfrm>
              <a:off x="0" y="-38100"/>
              <a:ext cx="2797437" cy="1749412"/>
            </a:xfrm>
            <a:prstGeom prst="rect">
              <a:avLst/>
            </a:prstGeom>
          </p:spPr>
          <p:txBody>
            <a:bodyPr lIns="50800" tIns="50800" rIns="50800" bIns="50800" rtlCol="0" anchor="ctr"/>
            <a:lstStyle/>
            <a:p>
              <a:pPr algn="just">
                <a:lnSpc>
                  <a:spcPts val="3359"/>
                </a:lnSpc>
              </a:pPr>
              <a:endParaRPr/>
            </a:p>
            <a:p>
              <a:pPr algn="just">
                <a:lnSpc>
                  <a:spcPts val="2800"/>
                </a:lnSpc>
              </a:pPr>
              <a:endParaRPr/>
            </a:p>
          </p:txBody>
        </p:sp>
      </p:grpSp>
      <p:sp>
        <p:nvSpPr>
          <p:cNvPr id="8" name="Freeform 8"/>
          <p:cNvSpPr/>
          <p:nvPr/>
        </p:nvSpPr>
        <p:spPr>
          <a:xfrm>
            <a:off x="11797050" y="3142270"/>
            <a:ext cx="6133828" cy="3465613"/>
          </a:xfrm>
          <a:custGeom>
            <a:avLst/>
            <a:gdLst/>
            <a:ahLst/>
            <a:cxnLst/>
            <a:rect l="l" t="t" r="r" b="b"/>
            <a:pathLst>
              <a:path w="6133828" h="3465613">
                <a:moveTo>
                  <a:pt x="0" y="0"/>
                </a:moveTo>
                <a:lnTo>
                  <a:pt x="6133828" y="0"/>
                </a:lnTo>
                <a:lnTo>
                  <a:pt x="6133828" y="3465613"/>
                </a:lnTo>
                <a:lnTo>
                  <a:pt x="0" y="3465613"/>
                </a:lnTo>
                <a:lnTo>
                  <a:pt x="0" y="0"/>
                </a:lnTo>
                <a:close/>
              </a:path>
            </a:pathLst>
          </a:custGeom>
          <a:blipFill>
            <a:blip r:embed="rId2"/>
            <a:stretch>
              <a:fillRect/>
            </a:stretch>
          </a:blipFill>
        </p:spPr>
      </p:sp>
      <p:sp>
        <p:nvSpPr>
          <p:cNvPr id="9" name="Freeform 9"/>
          <p:cNvSpPr/>
          <p:nvPr/>
        </p:nvSpPr>
        <p:spPr>
          <a:xfrm>
            <a:off x="14407869" y="7292702"/>
            <a:ext cx="3523010" cy="2347205"/>
          </a:xfrm>
          <a:custGeom>
            <a:avLst/>
            <a:gdLst/>
            <a:ahLst/>
            <a:cxnLst/>
            <a:rect l="l" t="t" r="r" b="b"/>
            <a:pathLst>
              <a:path w="3523010" h="2347205">
                <a:moveTo>
                  <a:pt x="0" y="0"/>
                </a:moveTo>
                <a:lnTo>
                  <a:pt x="3523009" y="0"/>
                </a:lnTo>
                <a:lnTo>
                  <a:pt x="3523009" y="2347206"/>
                </a:lnTo>
                <a:lnTo>
                  <a:pt x="0" y="2347206"/>
                </a:lnTo>
                <a:lnTo>
                  <a:pt x="0" y="0"/>
                </a:lnTo>
                <a:close/>
              </a:path>
            </a:pathLst>
          </a:custGeom>
          <a:blipFill>
            <a:blip r:embed="rId3"/>
            <a:stretch>
              <a:fillRect/>
            </a:stretch>
          </a:blipFill>
        </p:spPr>
      </p:sp>
      <p:sp>
        <p:nvSpPr>
          <p:cNvPr id="10" name="Freeform 10"/>
          <p:cNvSpPr/>
          <p:nvPr/>
        </p:nvSpPr>
        <p:spPr>
          <a:xfrm>
            <a:off x="11797050" y="7299697"/>
            <a:ext cx="2360587" cy="2340210"/>
          </a:xfrm>
          <a:custGeom>
            <a:avLst/>
            <a:gdLst/>
            <a:ahLst/>
            <a:cxnLst/>
            <a:rect l="l" t="t" r="r" b="b"/>
            <a:pathLst>
              <a:path w="2360587" h="2340210">
                <a:moveTo>
                  <a:pt x="0" y="0"/>
                </a:moveTo>
                <a:lnTo>
                  <a:pt x="2360587" y="0"/>
                </a:lnTo>
                <a:lnTo>
                  <a:pt x="2360587" y="2340211"/>
                </a:lnTo>
                <a:lnTo>
                  <a:pt x="0" y="2340211"/>
                </a:lnTo>
                <a:lnTo>
                  <a:pt x="0" y="0"/>
                </a:lnTo>
                <a:close/>
              </a:path>
            </a:pathLst>
          </a:custGeom>
          <a:blipFill>
            <a:blip r:embed="rId4"/>
            <a:stretch>
              <a:fillRect l="-59505" b="-4782"/>
            </a:stretch>
          </a:blipFill>
        </p:spPr>
      </p:sp>
      <p:sp>
        <p:nvSpPr>
          <p:cNvPr id="11" name="TextBox 11"/>
          <p:cNvSpPr txBox="1"/>
          <p:nvPr/>
        </p:nvSpPr>
        <p:spPr>
          <a:xfrm>
            <a:off x="666750" y="809625"/>
            <a:ext cx="16954500" cy="1069976"/>
          </a:xfrm>
          <a:prstGeom prst="rect">
            <a:avLst/>
          </a:prstGeom>
        </p:spPr>
        <p:txBody>
          <a:bodyPr lIns="0" tIns="0" rIns="0" bIns="0" rtlCol="0" anchor="t">
            <a:spAutoFit/>
          </a:bodyPr>
          <a:lstStyle/>
          <a:p>
            <a:pPr marL="0" lvl="0" indent="0" algn="l">
              <a:lnSpc>
                <a:spcPts val="8000"/>
              </a:lnSpc>
            </a:pPr>
            <a:r>
              <a:rPr lang="en-US" sz="8000" spc="-240">
                <a:solidFill>
                  <a:srgbClr val="1A2935"/>
                </a:solidFill>
                <a:latin typeface="Georgia Pro Condensed"/>
                <a:ea typeface="Georgia Pro Condensed"/>
                <a:cs typeface="Georgia Pro Condensed"/>
                <a:sym typeface="Georgia Pro Condensed"/>
              </a:rPr>
              <a:t>Motivation</a:t>
            </a:r>
          </a:p>
        </p:txBody>
      </p:sp>
      <p:sp>
        <p:nvSpPr>
          <p:cNvPr id="12" name="TextBox 12"/>
          <p:cNvSpPr txBox="1"/>
          <p:nvPr/>
        </p:nvSpPr>
        <p:spPr>
          <a:xfrm>
            <a:off x="1028700" y="3550640"/>
            <a:ext cx="9964071" cy="5688772"/>
          </a:xfrm>
          <a:prstGeom prst="rect">
            <a:avLst/>
          </a:prstGeom>
        </p:spPr>
        <p:txBody>
          <a:bodyPr lIns="0" tIns="0" rIns="0" bIns="0" rtlCol="0" anchor="t">
            <a:spAutoFit/>
          </a:bodyPr>
          <a:lstStyle/>
          <a:p>
            <a:pPr algn="l">
              <a:lnSpc>
                <a:spcPts val="3706"/>
              </a:lnSpc>
            </a:pPr>
            <a:r>
              <a:rPr lang="en-US" sz="2647">
                <a:solidFill>
                  <a:srgbClr val="1A2935"/>
                </a:solidFill>
                <a:latin typeface="Helvetica World"/>
                <a:ea typeface="Helvetica World"/>
                <a:cs typeface="Helvetica World"/>
                <a:sym typeface="Helvetica World"/>
              </a:rPr>
              <a:t>Modern electric power grids face the ongoing challenge of:</a:t>
            </a:r>
          </a:p>
          <a:p>
            <a:pPr algn="l">
              <a:lnSpc>
                <a:spcPts val="626"/>
              </a:lnSpc>
            </a:pPr>
            <a:endParaRPr lang="en-US" sz="2647">
              <a:solidFill>
                <a:srgbClr val="1A2935"/>
              </a:solidFill>
              <a:latin typeface="Helvetica World"/>
              <a:ea typeface="Helvetica World"/>
              <a:cs typeface="Helvetica World"/>
              <a:sym typeface="Helvetica World"/>
            </a:endParaRPr>
          </a:p>
          <a:p>
            <a:pPr marL="571529" lvl="1" indent="-285764" algn="l">
              <a:lnSpc>
                <a:spcPts val="3706"/>
              </a:lnSpc>
              <a:buFont typeface="Arial"/>
              <a:buChar char="•"/>
            </a:pPr>
            <a:r>
              <a:rPr lang="en-US" sz="2647">
                <a:solidFill>
                  <a:srgbClr val="1A2935"/>
                </a:solidFill>
                <a:latin typeface="Helvetica World"/>
                <a:ea typeface="Helvetica World"/>
                <a:cs typeface="Helvetica World"/>
                <a:sym typeface="Helvetica World"/>
              </a:rPr>
              <a:t>balancing electricity supply &amp; demand</a:t>
            </a:r>
          </a:p>
          <a:p>
            <a:pPr marL="571529" lvl="1" indent="-285764" algn="l">
              <a:lnSpc>
                <a:spcPts val="3706"/>
              </a:lnSpc>
              <a:buFont typeface="Arial"/>
              <a:buChar char="•"/>
            </a:pPr>
            <a:r>
              <a:rPr lang="en-US" sz="2647">
                <a:solidFill>
                  <a:srgbClr val="1A2935"/>
                </a:solidFill>
                <a:latin typeface="Helvetica World"/>
                <a:ea typeface="Helvetica World"/>
                <a:cs typeface="Helvetica World"/>
                <a:sym typeface="Helvetica World"/>
              </a:rPr>
              <a:t>while minimizing cost</a:t>
            </a:r>
          </a:p>
          <a:p>
            <a:pPr marL="571529" lvl="1" indent="-285764" algn="l">
              <a:lnSpc>
                <a:spcPts val="3706"/>
              </a:lnSpc>
              <a:buFont typeface="Arial"/>
              <a:buChar char="•"/>
            </a:pPr>
            <a:r>
              <a:rPr lang="en-US" sz="2647">
                <a:solidFill>
                  <a:srgbClr val="1A2935"/>
                </a:solidFill>
                <a:latin typeface="Helvetica World"/>
                <a:ea typeface="Helvetica World"/>
                <a:cs typeface="Helvetica World"/>
                <a:sym typeface="Helvetica World"/>
              </a:rPr>
              <a:t>protecting consumer privacy</a:t>
            </a:r>
          </a:p>
          <a:p>
            <a:pPr marL="571529" lvl="1" indent="-285764" algn="l">
              <a:lnSpc>
                <a:spcPts val="3706"/>
              </a:lnSpc>
              <a:buFont typeface="Arial"/>
              <a:buChar char="•"/>
            </a:pPr>
            <a:r>
              <a:rPr lang="en-US" sz="2647">
                <a:solidFill>
                  <a:srgbClr val="1A2935"/>
                </a:solidFill>
                <a:latin typeface="Helvetica World"/>
                <a:ea typeface="Helvetica World"/>
                <a:cs typeface="Helvetica World"/>
                <a:sym typeface="Helvetica World"/>
              </a:rPr>
              <a:t>ensuring security of the system, and</a:t>
            </a:r>
          </a:p>
          <a:p>
            <a:pPr marL="571529" lvl="1" indent="-285764" algn="l">
              <a:lnSpc>
                <a:spcPts val="3706"/>
              </a:lnSpc>
              <a:buFont typeface="Arial"/>
              <a:buChar char="•"/>
            </a:pPr>
            <a:r>
              <a:rPr lang="en-US" sz="2647">
                <a:solidFill>
                  <a:srgbClr val="1A2935"/>
                </a:solidFill>
                <a:latin typeface="Helvetica World"/>
                <a:ea typeface="Helvetica World"/>
                <a:cs typeface="Helvetica World"/>
                <a:sym typeface="Helvetica World"/>
              </a:rPr>
              <a:t>maintaining reliability.</a:t>
            </a:r>
          </a:p>
          <a:p>
            <a:pPr algn="l">
              <a:lnSpc>
                <a:spcPts val="3706"/>
              </a:lnSpc>
            </a:pPr>
            <a:endParaRPr lang="en-US" sz="2647">
              <a:solidFill>
                <a:srgbClr val="1A2935"/>
              </a:solidFill>
              <a:latin typeface="Helvetica World"/>
              <a:ea typeface="Helvetica World"/>
              <a:cs typeface="Helvetica World"/>
              <a:sym typeface="Helvetica World"/>
            </a:endParaRPr>
          </a:p>
          <a:p>
            <a:pPr algn="l">
              <a:lnSpc>
                <a:spcPts val="3706"/>
              </a:lnSpc>
            </a:pPr>
            <a:r>
              <a:rPr lang="en-US" sz="2647">
                <a:solidFill>
                  <a:srgbClr val="1A2935"/>
                </a:solidFill>
                <a:latin typeface="Helvetica World"/>
                <a:ea typeface="Helvetica World"/>
                <a:cs typeface="Helvetica World"/>
                <a:sym typeface="Helvetica World"/>
              </a:rPr>
              <a:t>As energy systems become more distributed with consumers increasingly acting as both users and producers of power, there is a growing need for intelligent, secure, and flexible coordination mechanisms.</a:t>
            </a:r>
          </a:p>
          <a:p>
            <a:pPr algn="l">
              <a:lnSpc>
                <a:spcPts val="3706"/>
              </a:lnSpc>
              <a:spcBef>
                <a:spcPct val="0"/>
              </a:spcBef>
            </a:pPr>
            <a:endParaRPr lang="en-US" sz="2647">
              <a:solidFill>
                <a:srgbClr val="1A2935"/>
              </a:solidFill>
              <a:latin typeface="Helvetica World"/>
              <a:ea typeface="Helvetica World"/>
              <a:cs typeface="Helvetica World"/>
              <a:sym typeface="Helvetica Wor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55D4A"/>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457450"/>
            <a:chOff x="0" y="0"/>
            <a:chExt cx="4816593" cy="647230"/>
          </a:xfrm>
        </p:grpSpPr>
        <p:sp>
          <p:nvSpPr>
            <p:cNvPr id="3" name="Freeform 3"/>
            <p:cNvSpPr/>
            <p:nvPr/>
          </p:nvSpPr>
          <p:spPr>
            <a:xfrm>
              <a:off x="0" y="0"/>
              <a:ext cx="4816592" cy="647230"/>
            </a:xfrm>
            <a:custGeom>
              <a:avLst/>
              <a:gdLst/>
              <a:ahLst/>
              <a:cxnLst/>
              <a:rect l="l" t="t" r="r" b="b"/>
              <a:pathLst>
                <a:path w="4816592" h="647230">
                  <a:moveTo>
                    <a:pt x="0" y="0"/>
                  </a:moveTo>
                  <a:lnTo>
                    <a:pt x="4816592" y="0"/>
                  </a:lnTo>
                  <a:lnTo>
                    <a:pt x="4816592" y="647230"/>
                  </a:lnTo>
                  <a:lnTo>
                    <a:pt x="0" y="647230"/>
                  </a:lnTo>
                  <a:close/>
                </a:path>
              </a:pathLst>
            </a:custGeom>
            <a:solidFill>
              <a:srgbClr val="A0D8EF"/>
            </a:solidFill>
          </p:spPr>
        </p:sp>
        <p:sp>
          <p:nvSpPr>
            <p:cNvPr id="4" name="TextBox 4"/>
            <p:cNvSpPr txBox="1"/>
            <p:nvPr/>
          </p:nvSpPr>
          <p:spPr>
            <a:xfrm>
              <a:off x="0" y="-38100"/>
              <a:ext cx="4816593" cy="685330"/>
            </a:xfrm>
            <a:prstGeom prst="rect">
              <a:avLst/>
            </a:prstGeom>
          </p:spPr>
          <p:txBody>
            <a:bodyPr lIns="50800" tIns="50800" rIns="50800" bIns="50800" rtlCol="0" anchor="ctr"/>
            <a:lstStyle/>
            <a:p>
              <a:pPr algn="ctr">
                <a:lnSpc>
                  <a:spcPts val="2800"/>
                </a:lnSpc>
              </a:pPr>
              <a:endParaRPr/>
            </a:p>
          </p:txBody>
        </p:sp>
      </p:grpSp>
      <p:sp>
        <p:nvSpPr>
          <p:cNvPr id="5" name="Freeform 5"/>
          <p:cNvSpPr/>
          <p:nvPr/>
        </p:nvSpPr>
        <p:spPr>
          <a:xfrm>
            <a:off x="7912806" y="2457450"/>
            <a:ext cx="9940562" cy="7455421"/>
          </a:xfrm>
          <a:custGeom>
            <a:avLst/>
            <a:gdLst/>
            <a:ahLst/>
            <a:cxnLst/>
            <a:rect l="l" t="t" r="r" b="b"/>
            <a:pathLst>
              <a:path w="9940562" h="7455421">
                <a:moveTo>
                  <a:pt x="0" y="0"/>
                </a:moveTo>
                <a:lnTo>
                  <a:pt x="9940562" y="0"/>
                </a:lnTo>
                <a:lnTo>
                  <a:pt x="9940562" y="7455421"/>
                </a:lnTo>
                <a:lnTo>
                  <a:pt x="0" y="7455421"/>
                </a:lnTo>
                <a:lnTo>
                  <a:pt x="0" y="0"/>
                </a:lnTo>
                <a:close/>
              </a:path>
            </a:pathLst>
          </a:custGeom>
          <a:blipFill>
            <a:blip r:embed="rId2"/>
            <a:stretch>
              <a:fillRect/>
            </a:stretch>
          </a:blipFill>
        </p:spPr>
      </p:sp>
      <p:grpSp>
        <p:nvGrpSpPr>
          <p:cNvPr id="6" name="Group 6"/>
          <p:cNvGrpSpPr/>
          <p:nvPr/>
        </p:nvGrpSpPr>
        <p:grpSpPr>
          <a:xfrm>
            <a:off x="313577" y="2958123"/>
            <a:ext cx="7072684" cy="6795379"/>
            <a:chOff x="0" y="0"/>
            <a:chExt cx="1862764" cy="1789730"/>
          </a:xfrm>
        </p:grpSpPr>
        <p:sp>
          <p:nvSpPr>
            <p:cNvPr id="7" name="Freeform 7"/>
            <p:cNvSpPr/>
            <p:nvPr/>
          </p:nvSpPr>
          <p:spPr>
            <a:xfrm>
              <a:off x="0" y="0"/>
              <a:ext cx="1862764" cy="1789730"/>
            </a:xfrm>
            <a:custGeom>
              <a:avLst/>
              <a:gdLst/>
              <a:ahLst/>
              <a:cxnLst/>
              <a:rect l="l" t="t" r="r" b="b"/>
              <a:pathLst>
                <a:path w="1862764" h="1789730">
                  <a:moveTo>
                    <a:pt x="0" y="0"/>
                  </a:moveTo>
                  <a:lnTo>
                    <a:pt x="1862764" y="0"/>
                  </a:lnTo>
                  <a:lnTo>
                    <a:pt x="1862764" y="1789730"/>
                  </a:lnTo>
                  <a:lnTo>
                    <a:pt x="0" y="1789730"/>
                  </a:lnTo>
                  <a:close/>
                </a:path>
              </a:pathLst>
            </a:custGeom>
            <a:solidFill>
              <a:srgbClr val="FFFFFF"/>
            </a:solidFill>
            <a:ln w="66675" cap="sq">
              <a:solidFill>
                <a:srgbClr val="4FB6E1"/>
              </a:solidFill>
              <a:prstDash val="dash"/>
              <a:miter/>
            </a:ln>
          </p:spPr>
        </p:sp>
        <p:sp>
          <p:nvSpPr>
            <p:cNvPr id="8" name="TextBox 8"/>
            <p:cNvSpPr txBox="1"/>
            <p:nvPr/>
          </p:nvSpPr>
          <p:spPr>
            <a:xfrm>
              <a:off x="0" y="-38100"/>
              <a:ext cx="1862764" cy="1827830"/>
            </a:xfrm>
            <a:prstGeom prst="rect">
              <a:avLst/>
            </a:prstGeom>
          </p:spPr>
          <p:txBody>
            <a:bodyPr lIns="50800" tIns="50800" rIns="50800" bIns="50800" rtlCol="0" anchor="ctr"/>
            <a:lstStyle/>
            <a:p>
              <a:pPr algn="just">
                <a:lnSpc>
                  <a:spcPts val="3359"/>
                </a:lnSpc>
              </a:pPr>
              <a:endParaRPr/>
            </a:p>
            <a:p>
              <a:pPr algn="just">
                <a:lnSpc>
                  <a:spcPts val="2800"/>
                </a:lnSpc>
              </a:pPr>
              <a:endParaRPr/>
            </a:p>
          </p:txBody>
        </p:sp>
      </p:grpSp>
      <p:sp>
        <p:nvSpPr>
          <p:cNvPr id="9" name="TextBox 9"/>
          <p:cNvSpPr txBox="1"/>
          <p:nvPr/>
        </p:nvSpPr>
        <p:spPr>
          <a:xfrm>
            <a:off x="666750" y="809625"/>
            <a:ext cx="16954500" cy="1069976"/>
          </a:xfrm>
          <a:prstGeom prst="rect">
            <a:avLst/>
          </a:prstGeom>
        </p:spPr>
        <p:txBody>
          <a:bodyPr lIns="0" tIns="0" rIns="0" bIns="0" rtlCol="0" anchor="t">
            <a:spAutoFit/>
          </a:bodyPr>
          <a:lstStyle/>
          <a:p>
            <a:pPr marL="0" lvl="0" indent="0" algn="l">
              <a:lnSpc>
                <a:spcPts val="8000"/>
              </a:lnSpc>
            </a:pPr>
            <a:r>
              <a:rPr lang="en-US" sz="8000" spc="-240">
                <a:solidFill>
                  <a:srgbClr val="1A2935"/>
                </a:solidFill>
                <a:latin typeface="Georgia Pro Condensed"/>
                <a:ea typeface="Georgia Pro Condensed"/>
                <a:cs typeface="Georgia Pro Condensed"/>
                <a:sym typeface="Georgia Pro Condensed"/>
              </a:rPr>
              <a:t>Vision</a:t>
            </a:r>
          </a:p>
        </p:txBody>
      </p:sp>
      <p:sp>
        <p:nvSpPr>
          <p:cNvPr id="10" name="TextBox 10"/>
          <p:cNvSpPr txBox="1"/>
          <p:nvPr/>
        </p:nvSpPr>
        <p:spPr>
          <a:xfrm>
            <a:off x="666750" y="3353438"/>
            <a:ext cx="6515727" cy="6209736"/>
          </a:xfrm>
          <a:prstGeom prst="rect">
            <a:avLst/>
          </a:prstGeom>
        </p:spPr>
        <p:txBody>
          <a:bodyPr lIns="0" tIns="0" rIns="0" bIns="0" rtlCol="0" anchor="t">
            <a:spAutoFit/>
          </a:bodyPr>
          <a:lstStyle/>
          <a:p>
            <a:pPr algn="l">
              <a:lnSpc>
                <a:spcPts val="3706"/>
              </a:lnSpc>
            </a:pPr>
            <a:r>
              <a:rPr lang="en-US" sz="2647">
                <a:solidFill>
                  <a:srgbClr val="1A2935"/>
                </a:solidFill>
                <a:latin typeface="Helvetica World"/>
                <a:ea typeface="Helvetica World"/>
                <a:cs typeface="Helvetica World"/>
                <a:sym typeface="Helvetica World"/>
              </a:rPr>
              <a:t>We will combine </a:t>
            </a:r>
          </a:p>
          <a:p>
            <a:pPr algn="l">
              <a:lnSpc>
                <a:spcPts val="3706"/>
              </a:lnSpc>
            </a:pPr>
            <a:endParaRPr lang="en-US" sz="2647">
              <a:solidFill>
                <a:srgbClr val="1A2935"/>
              </a:solidFill>
              <a:latin typeface="Helvetica World"/>
              <a:ea typeface="Helvetica World"/>
              <a:cs typeface="Helvetica World"/>
              <a:sym typeface="Helvetica World"/>
            </a:endParaRPr>
          </a:p>
          <a:p>
            <a:pPr marL="571529" lvl="1" indent="-285764" algn="l">
              <a:lnSpc>
                <a:spcPts val="3706"/>
              </a:lnSpc>
              <a:buFont typeface="Arial"/>
              <a:buChar char="•"/>
            </a:pPr>
            <a:r>
              <a:rPr lang="en-US" sz="2647" b="1">
                <a:solidFill>
                  <a:srgbClr val="1A2935"/>
                </a:solidFill>
                <a:latin typeface="Helvetica World Bold"/>
                <a:ea typeface="Helvetica World Bold"/>
                <a:cs typeface="Helvetica World Bold"/>
                <a:sym typeface="Helvetica World Bold"/>
              </a:rPr>
              <a:t>data analysis</a:t>
            </a:r>
            <a:r>
              <a:rPr lang="en-US" sz="2647">
                <a:solidFill>
                  <a:srgbClr val="1A2935"/>
                </a:solidFill>
                <a:latin typeface="Helvetica World"/>
                <a:ea typeface="Helvetica World"/>
                <a:cs typeface="Helvetica World"/>
                <a:sym typeface="Helvetica World"/>
              </a:rPr>
              <a:t> (using time-based energy data), </a:t>
            </a:r>
          </a:p>
          <a:p>
            <a:pPr marL="571529" lvl="1" indent="-285764" algn="l">
              <a:lnSpc>
                <a:spcPts val="3706"/>
              </a:lnSpc>
              <a:buFont typeface="Arial"/>
              <a:buChar char="•"/>
            </a:pPr>
            <a:r>
              <a:rPr lang="en-US" sz="2647" b="1">
                <a:solidFill>
                  <a:srgbClr val="1A2935"/>
                </a:solidFill>
                <a:latin typeface="Helvetica World Bold"/>
                <a:ea typeface="Helvetica World Bold"/>
                <a:cs typeface="Helvetica World Bold"/>
                <a:sym typeface="Helvetica World Bold"/>
              </a:rPr>
              <a:t>signal processing</a:t>
            </a:r>
            <a:r>
              <a:rPr lang="en-US" sz="2647">
                <a:solidFill>
                  <a:srgbClr val="1A2935"/>
                </a:solidFill>
                <a:latin typeface="Helvetica World"/>
                <a:ea typeface="Helvetica World"/>
                <a:cs typeface="Helvetica World"/>
                <a:sym typeface="Helvetica World"/>
              </a:rPr>
              <a:t>, </a:t>
            </a:r>
          </a:p>
          <a:p>
            <a:pPr marL="571529" lvl="1" indent="-285764" algn="l">
              <a:lnSpc>
                <a:spcPts val="3706"/>
              </a:lnSpc>
              <a:buFont typeface="Arial"/>
              <a:buChar char="•"/>
            </a:pPr>
            <a:r>
              <a:rPr lang="en-US" sz="2647" b="1">
                <a:solidFill>
                  <a:srgbClr val="1A2935"/>
                </a:solidFill>
                <a:latin typeface="Helvetica World Bold"/>
                <a:ea typeface="Helvetica World Bold"/>
                <a:cs typeface="Helvetica World Bold"/>
                <a:sym typeface="Helvetica World Bold"/>
              </a:rPr>
              <a:t>AI-driven deision-making</a:t>
            </a:r>
            <a:r>
              <a:rPr lang="en-US" sz="2647">
                <a:solidFill>
                  <a:srgbClr val="1A2935"/>
                </a:solidFill>
                <a:latin typeface="Helvetica World"/>
                <a:ea typeface="Helvetica World"/>
                <a:cs typeface="Helvetica World"/>
                <a:sym typeface="Helvetica World"/>
              </a:rPr>
              <a:t>, and </a:t>
            </a:r>
          </a:p>
          <a:p>
            <a:pPr marL="571529" lvl="1" indent="-285764" algn="l">
              <a:lnSpc>
                <a:spcPts val="3706"/>
              </a:lnSpc>
              <a:buFont typeface="Arial"/>
              <a:buChar char="•"/>
            </a:pPr>
            <a:r>
              <a:rPr lang="en-US" sz="2647" b="1">
                <a:solidFill>
                  <a:srgbClr val="1A2935"/>
                </a:solidFill>
                <a:latin typeface="Helvetica World Bold"/>
                <a:ea typeface="Helvetica World Bold"/>
                <a:cs typeface="Helvetica World Bold"/>
                <a:sym typeface="Helvetica World Bold"/>
              </a:rPr>
              <a:t>cybersecurity principles</a:t>
            </a:r>
          </a:p>
          <a:p>
            <a:pPr algn="l">
              <a:lnSpc>
                <a:spcPts val="3706"/>
              </a:lnSpc>
            </a:pPr>
            <a:endParaRPr lang="en-US" sz="2647" b="1">
              <a:solidFill>
                <a:srgbClr val="1A2935"/>
              </a:solidFill>
              <a:latin typeface="Helvetica World Bold"/>
              <a:ea typeface="Helvetica World Bold"/>
              <a:cs typeface="Helvetica World Bold"/>
              <a:sym typeface="Helvetica World Bold"/>
            </a:endParaRPr>
          </a:p>
          <a:p>
            <a:pPr algn="l">
              <a:lnSpc>
                <a:spcPts val="3706"/>
              </a:lnSpc>
            </a:pPr>
            <a:r>
              <a:rPr lang="en-US" sz="2647">
                <a:solidFill>
                  <a:srgbClr val="1A2935"/>
                </a:solidFill>
                <a:latin typeface="Helvetica World"/>
                <a:ea typeface="Helvetica World"/>
                <a:cs typeface="Helvetica World"/>
                <a:sym typeface="Helvetica World"/>
              </a:rPr>
              <a:t>to demonstrate how small, coordinated actions across many consumers can support grid stability without requiring intrusive control or detailed personal data.</a:t>
            </a:r>
          </a:p>
          <a:p>
            <a:pPr algn="l">
              <a:lnSpc>
                <a:spcPts val="3706"/>
              </a:lnSpc>
              <a:spcBef>
                <a:spcPct val="0"/>
              </a:spcBef>
            </a:pPr>
            <a:endParaRPr lang="en-US" sz="2647">
              <a:solidFill>
                <a:srgbClr val="1A2935"/>
              </a:solidFill>
              <a:latin typeface="Helvetica World"/>
              <a:ea typeface="Helvetica World"/>
              <a:cs typeface="Helvetica World"/>
              <a:sym typeface="Helvetica Wor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2935"/>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4465383" cy="2358123"/>
          </a:xfrm>
        </p:grpSpPr>
        <p:sp>
          <p:nvSpPr>
            <p:cNvPr id="3" name="Freeform 3"/>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A0D8EF"/>
            </a:solidFill>
            <a:ln cap="rnd">
              <a:noFill/>
              <a:prstDash val="solid"/>
              <a:round/>
            </a:ln>
          </p:spPr>
        </p:sp>
        <p:sp>
          <p:nvSpPr>
            <p:cNvPr id="4" name="TextBox 4"/>
            <p:cNvSpPr txBox="1"/>
            <p:nvPr/>
          </p:nvSpPr>
          <p:spPr>
            <a:xfrm>
              <a:off x="0" y="-38100"/>
              <a:ext cx="4465383" cy="2396223"/>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5" name="Group 5"/>
          <p:cNvGrpSpPr/>
          <p:nvPr/>
        </p:nvGrpSpPr>
        <p:grpSpPr>
          <a:xfrm>
            <a:off x="1800225" y="1562100"/>
            <a:ext cx="13249275" cy="2028909"/>
            <a:chOff x="0" y="0"/>
            <a:chExt cx="17665700" cy="2705212"/>
          </a:xfrm>
        </p:grpSpPr>
        <p:sp>
          <p:nvSpPr>
            <p:cNvPr id="6" name="TextBox 6"/>
            <p:cNvSpPr txBox="1"/>
            <p:nvPr/>
          </p:nvSpPr>
          <p:spPr>
            <a:xfrm>
              <a:off x="0" y="-85725"/>
              <a:ext cx="17665700" cy="1702858"/>
            </a:xfrm>
            <a:prstGeom prst="rect">
              <a:avLst/>
            </a:prstGeom>
          </p:spPr>
          <p:txBody>
            <a:bodyPr lIns="0" tIns="0" rIns="0" bIns="0" rtlCol="0" anchor="t">
              <a:spAutoFit/>
            </a:bodyPr>
            <a:lstStyle/>
            <a:p>
              <a:pPr marL="0" lvl="0" indent="0" algn="l">
                <a:lnSpc>
                  <a:spcPts val="10400"/>
                </a:lnSpc>
              </a:pPr>
              <a:r>
                <a:rPr lang="en-US" sz="8000" spc="-240">
                  <a:solidFill>
                    <a:srgbClr val="162C79"/>
                  </a:solidFill>
                  <a:latin typeface="Georgia Pro Condensed"/>
                  <a:ea typeface="Georgia Pro Condensed"/>
                  <a:cs typeface="Georgia Pro Condensed"/>
                  <a:sym typeface="Georgia Pro Condensed"/>
                </a:rPr>
                <a:t>Interdisciplinary Integration</a:t>
              </a:r>
            </a:p>
          </p:txBody>
        </p:sp>
        <p:sp>
          <p:nvSpPr>
            <p:cNvPr id="7" name="TextBox 7"/>
            <p:cNvSpPr txBox="1"/>
            <p:nvPr/>
          </p:nvSpPr>
          <p:spPr>
            <a:xfrm>
              <a:off x="0" y="2197212"/>
              <a:ext cx="17665700" cy="508000"/>
            </a:xfrm>
            <a:prstGeom prst="rect">
              <a:avLst/>
            </a:prstGeom>
          </p:spPr>
          <p:txBody>
            <a:bodyPr lIns="0" tIns="0" rIns="0" bIns="0" rtlCol="0" anchor="t">
              <a:spAutoFit/>
            </a:bodyPr>
            <a:lstStyle/>
            <a:p>
              <a:pPr marL="0" lvl="0" indent="0" algn="l">
                <a:lnSpc>
                  <a:spcPts val="3000"/>
                </a:lnSpc>
                <a:spcBef>
                  <a:spcPct val="0"/>
                </a:spcBef>
              </a:pPr>
              <a:endParaRPr/>
            </a:p>
          </p:txBody>
        </p:sp>
      </p:grpSp>
      <p:sp>
        <p:nvSpPr>
          <p:cNvPr id="8" name="TextBox 8"/>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2CA58D"/>
                </a:solidFill>
                <a:latin typeface="Helvetica World"/>
                <a:ea typeface="Helvetica World"/>
                <a:cs typeface="Helvetica World"/>
                <a:sym typeface="Helvetica World"/>
              </a:rPr>
              <a:t>4</a:t>
            </a:r>
          </a:p>
        </p:txBody>
      </p:sp>
      <p:grpSp>
        <p:nvGrpSpPr>
          <p:cNvPr id="9" name="Group 9"/>
          <p:cNvGrpSpPr/>
          <p:nvPr/>
        </p:nvGrpSpPr>
        <p:grpSpPr>
          <a:xfrm>
            <a:off x="302783" y="3208953"/>
            <a:ext cx="6348910" cy="2960179"/>
            <a:chOff x="0" y="0"/>
            <a:chExt cx="8465214" cy="3946906"/>
          </a:xfrm>
        </p:grpSpPr>
        <p:sp>
          <p:nvSpPr>
            <p:cNvPr id="10" name="Freeform 10"/>
            <p:cNvSpPr/>
            <p:nvPr/>
          </p:nvSpPr>
          <p:spPr>
            <a:xfrm>
              <a:off x="0" y="0"/>
              <a:ext cx="8465214" cy="3946906"/>
            </a:xfrm>
            <a:custGeom>
              <a:avLst/>
              <a:gdLst/>
              <a:ahLst/>
              <a:cxnLst/>
              <a:rect l="l" t="t" r="r" b="b"/>
              <a:pathLst>
                <a:path w="8465214" h="3946906">
                  <a:moveTo>
                    <a:pt x="0" y="0"/>
                  </a:moveTo>
                  <a:lnTo>
                    <a:pt x="8465214" y="0"/>
                  </a:lnTo>
                  <a:lnTo>
                    <a:pt x="8465214" y="3946906"/>
                  </a:lnTo>
                  <a:lnTo>
                    <a:pt x="0" y="3946906"/>
                  </a:lnTo>
                  <a:lnTo>
                    <a:pt x="0" y="0"/>
                  </a:lnTo>
                  <a:close/>
                </a:path>
              </a:pathLst>
            </a:custGeom>
            <a:blipFill>
              <a:blip r:embed="rId2"/>
              <a:stretch>
                <a:fillRect/>
              </a:stretch>
            </a:blipFill>
          </p:spPr>
        </p:sp>
        <p:sp>
          <p:nvSpPr>
            <p:cNvPr id="11" name="TextBox 11"/>
            <p:cNvSpPr txBox="1"/>
            <p:nvPr/>
          </p:nvSpPr>
          <p:spPr>
            <a:xfrm>
              <a:off x="991774" y="328128"/>
              <a:ext cx="5744662" cy="523875"/>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1A2935"/>
                  </a:solidFill>
                  <a:latin typeface="Helvetica World Bold"/>
                  <a:ea typeface="Helvetica World Bold"/>
                  <a:cs typeface="Helvetica World Bold"/>
                  <a:sym typeface="Helvetica World Bold"/>
                </a:rPr>
                <a:t>Energy</a:t>
              </a:r>
            </a:p>
          </p:txBody>
        </p:sp>
        <p:sp>
          <p:nvSpPr>
            <p:cNvPr id="12" name="TextBox 12"/>
            <p:cNvSpPr txBox="1"/>
            <p:nvPr/>
          </p:nvSpPr>
          <p:spPr>
            <a:xfrm>
              <a:off x="991774" y="984970"/>
              <a:ext cx="6557228" cy="2344420"/>
            </a:xfrm>
            <a:prstGeom prst="rect">
              <a:avLst/>
            </a:prstGeom>
          </p:spPr>
          <p:txBody>
            <a:bodyPr lIns="0" tIns="0" rIns="0" bIns="0" rtlCol="0" anchor="t">
              <a:spAutoFit/>
            </a:bodyPr>
            <a:lstStyle/>
            <a:p>
              <a:pPr marL="0" lvl="0" indent="0" algn="l">
                <a:lnSpc>
                  <a:spcPts val="3359"/>
                </a:lnSpc>
              </a:pPr>
              <a:r>
                <a:rPr lang="en-US" sz="2399" b="1" u="none" strike="noStrike" spc="-35">
                  <a:solidFill>
                    <a:srgbClr val="2CA58D"/>
                  </a:solidFill>
                  <a:latin typeface="Helvetica World Bold"/>
                  <a:ea typeface="Helvetica World Bold"/>
                  <a:cs typeface="Helvetica World Bold"/>
                  <a:sym typeface="Helvetica World Bold"/>
                </a:rPr>
                <a:t>We aim to demonstrate energy application by using measured time-series energy data representative of grid behavior.</a:t>
              </a:r>
            </a:p>
          </p:txBody>
        </p:sp>
      </p:grpSp>
      <p:grpSp>
        <p:nvGrpSpPr>
          <p:cNvPr id="13" name="Group 13"/>
          <p:cNvGrpSpPr/>
          <p:nvPr/>
        </p:nvGrpSpPr>
        <p:grpSpPr>
          <a:xfrm>
            <a:off x="5969545" y="3208953"/>
            <a:ext cx="6348910" cy="2960179"/>
            <a:chOff x="0" y="0"/>
            <a:chExt cx="8465214" cy="3946906"/>
          </a:xfrm>
        </p:grpSpPr>
        <p:sp>
          <p:nvSpPr>
            <p:cNvPr id="14" name="Freeform 14"/>
            <p:cNvSpPr/>
            <p:nvPr/>
          </p:nvSpPr>
          <p:spPr>
            <a:xfrm>
              <a:off x="0" y="0"/>
              <a:ext cx="8465214" cy="3946906"/>
            </a:xfrm>
            <a:custGeom>
              <a:avLst/>
              <a:gdLst/>
              <a:ahLst/>
              <a:cxnLst/>
              <a:rect l="l" t="t" r="r" b="b"/>
              <a:pathLst>
                <a:path w="8465214" h="3946906">
                  <a:moveTo>
                    <a:pt x="0" y="0"/>
                  </a:moveTo>
                  <a:lnTo>
                    <a:pt x="8465214" y="0"/>
                  </a:lnTo>
                  <a:lnTo>
                    <a:pt x="8465214" y="3946906"/>
                  </a:lnTo>
                  <a:lnTo>
                    <a:pt x="0" y="3946906"/>
                  </a:lnTo>
                  <a:lnTo>
                    <a:pt x="0" y="0"/>
                  </a:lnTo>
                  <a:close/>
                </a:path>
              </a:pathLst>
            </a:custGeom>
            <a:blipFill>
              <a:blip r:embed="rId2"/>
              <a:stretch>
                <a:fillRect/>
              </a:stretch>
            </a:blipFill>
          </p:spPr>
        </p:sp>
        <p:sp>
          <p:nvSpPr>
            <p:cNvPr id="15" name="TextBox 15"/>
            <p:cNvSpPr txBox="1"/>
            <p:nvPr/>
          </p:nvSpPr>
          <p:spPr>
            <a:xfrm>
              <a:off x="1142341" y="349511"/>
              <a:ext cx="5346700" cy="523875"/>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1A2935"/>
                  </a:solidFill>
                  <a:latin typeface="Helvetica World Bold"/>
                  <a:ea typeface="Helvetica World Bold"/>
                  <a:cs typeface="Helvetica World Bold"/>
                  <a:sym typeface="Helvetica World Bold"/>
                </a:rPr>
                <a:t>AI</a:t>
              </a:r>
            </a:p>
          </p:txBody>
        </p:sp>
        <p:sp>
          <p:nvSpPr>
            <p:cNvPr id="16" name="TextBox 16"/>
            <p:cNvSpPr txBox="1"/>
            <p:nvPr/>
          </p:nvSpPr>
          <p:spPr>
            <a:xfrm>
              <a:off x="1142341" y="984970"/>
              <a:ext cx="6308949" cy="2344420"/>
            </a:xfrm>
            <a:prstGeom prst="rect">
              <a:avLst/>
            </a:prstGeom>
          </p:spPr>
          <p:txBody>
            <a:bodyPr lIns="0" tIns="0" rIns="0" bIns="0" rtlCol="0" anchor="t">
              <a:spAutoFit/>
            </a:bodyPr>
            <a:lstStyle/>
            <a:p>
              <a:pPr marL="0" lvl="0" indent="0" algn="l">
                <a:lnSpc>
                  <a:spcPts val="3359"/>
                </a:lnSpc>
              </a:pPr>
              <a:r>
                <a:rPr lang="en-US" sz="2399" b="1" spc="-35">
                  <a:solidFill>
                    <a:srgbClr val="2CA58D"/>
                  </a:solidFill>
                  <a:latin typeface="Helvetica World Bold"/>
                  <a:ea typeface="Helvetica World Bold"/>
                  <a:cs typeface="Helvetica World Bold"/>
                  <a:sym typeface="Helvetica World Bold"/>
                </a:rPr>
                <a:t>Implement AI-driven decision logic to apply small-scale load adjustments based on system conditions .</a:t>
              </a:r>
            </a:p>
          </p:txBody>
        </p:sp>
      </p:grpSp>
      <p:grpSp>
        <p:nvGrpSpPr>
          <p:cNvPr id="17" name="Group 17"/>
          <p:cNvGrpSpPr/>
          <p:nvPr/>
        </p:nvGrpSpPr>
        <p:grpSpPr>
          <a:xfrm>
            <a:off x="11553916" y="3208953"/>
            <a:ext cx="6348910" cy="2960179"/>
            <a:chOff x="0" y="0"/>
            <a:chExt cx="8465214" cy="3946906"/>
          </a:xfrm>
        </p:grpSpPr>
        <p:sp>
          <p:nvSpPr>
            <p:cNvPr id="18" name="Freeform 18"/>
            <p:cNvSpPr/>
            <p:nvPr/>
          </p:nvSpPr>
          <p:spPr>
            <a:xfrm>
              <a:off x="0" y="0"/>
              <a:ext cx="8465214" cy="3946906"/>
            </a:xfrm>
            <a:custGeom>
              <a:avLst/>
              <a:gdLst/>
              <a:ahLst/>
              <a:cxnLst/>
              <a:rect l="l" t="t" r="r" b="b"/>
              <a:pathLst>
                <a:path w="8465214" h="3946906">
                  <a:moveTo>
                    <a:pt x="0" y="0"/>
                  </a:moveTo>
                  <a:lnTo>
                    <a:pt x="8465214" y="0"/>
                  </a:lnTo>
                  <a:lnTo>
                    <a:pt x="8465214" y="3946906"/>
                  </a:lnTo>
                  <a:lnTo>
                    <a:pt x="0" y="3946906"/>
                  </a:lnTo>
                  <a:lnTo>
                    <a:pt x="0" y="0"/>
                  </a:lnTo>
                  <a:close/>
                </a:path>
              </a:pathLst>
            </a:custGeom>
            <a:blipFill>
              <a:blip r:embed="rId2"/>
              <a:stretch>
                <a:fillRect/>
              </a:stretch>
            </a:blipFill>
          </p:spPr>
        </p:sp>
        <p:sp>
          <p:nvSpPr>
            <p:cNvPr id="19" name="TextBox 19"/>
            <p:cNvSpPr txBox="1"/>
            <p:nvPr/>
          </p:nvSpPr>
          <p:spPr>
            <a:xfrm>
              <a:off x="1306774" y="349511"/>
              <a:ext cx="5346700" cy="523875"/>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1A2935"/>
                  </a:solidFill>
                  <a:latin typeface="Helvetica World Bold"/>
                  <a:ea typeface="Helvetica World Bold"/>
                  <a:cs typeface="Helvetica World Bold"/>
                  <a:sym typeface="Helvetica World Bold"/>
                </a:rPr>
                <a:t>Cybersecurity</a:t>
              </a:r>
            </a:p>
          </p:txBody>
        </p:sp>
        <p:sp>
          <p:nvSpPr>
            <p:cNvPr id="20" name="TextBox 20"/>
            <p:cNvSpPr txBox="1"/>
            <p:nvPr/>
          </p:nvSpPr>
          <p:spPr>
            <a:xfrm>
              <a:off x="1306774" y="1034587"/>
              <a:ext cx="6116499" cy="1747520"/>
            </a:xfrm>
            <a:prstGeom prst="rect">
              <a:avLst/>
            </a:prstGeom>
          </p:spPr>
          <p:txBody>
            <a:bodyPr lIns="0" tIns="0" rIns="0" bIns="0" rtlCol="0" anchor="t">
              <a:spAutoFit/>
            </a:bodyPr>
            <a:lstStyle/>
            <a:p>
              <a:pPr marL="0" lvl="0" indent="0" algn="l">
                <a:lnSpc>
                  <a:spcPts val="3359"/>
                </a:lnSpc>
              </a:pPr>
              <a:r>
                <a:rPr lang="en-US" sz="2399" spc="-35">
                  <a:solidFill>
                    <a:srgbClr val="2CA58D"/>
                  </a:solidFill>
                  <a:latin typeface="Helvetica World"/>
                  <a:ea typeface="Helvetica World"/>
                  <a:cs typeface="Helvetica World"/>
                  <a:sym typeface="Helvetica World"/>
                </a:rPr>
                <a:t>I</a:t>
              </a:r>
              <a:r>
                <a:rPr lang="en-US" sz="2399" b="1" spc="-35">
                  <a:solidFill>
                    <a:srgbClr val="2CA58D"/>
                  </a:solidFill>
                  <a:latin typeface="Helvetica World Bold"/>
                  <a:ea typeface="Helvetica World Bold"/>
                  <a:cs typeface="Helvetica World Bold"/>
                  <a:sym typeface="Helvetica World Bold"/>
                </a:rPr>
                <a:t>ntegrate cybersecurity through privacy-preserving communication.</a:t>
              </a:r>
            </a:p>
          </p:txBody>
        </p:sp>
      </p:grpSp>
      <p:grpSp>
        <p:nvGrpSpPr>
          <p:cNvPr id="21" name="Group 21"/>
          <p:cNvGrpSpPr/>
          <p:nvPr/>
        </p:nvGrpSpPr>
        <p:grpSpPr>
          <a:xfrm>
            <a:off x="6358654" y="6485252"/>
            <a:ext cx="6912666" cy="3093762"/>
            <a:chOff x="0" y="0"/>
            <a:chExt cx="9216888" cy="4125016"/>
          </a:xfrm>
        </p:grpSpPr>
        <p:sp>
          <p:nvSpPr>
            <p:cNvPr id="22" name="Freeform 22"/>
            <p:cNvSpPr/>
            <p:nvPr/>
          </p:nvSpPr>
          <p:spPr>
            <a:xfrm>
              <a:off x="0" y="0"/>
              <a:ext cx="7582952" cy="3827760"/>
            </a:xfrm>
            <a:custGeom>
              <a:avLst/>
              <a:gdLst/>
              <a:ahLst/>
              <a:cxnLst/>
              <a:rect l="l" t="t" r="r" b="b"/>
              <a:pathLst>
                <a:path w="7582952" h="3827760">
                  <a:moveTo>
                    <a:pt x="0" y="0"/>
                  </a:moveTo>
                  <a:lnTo>
                    <a:pt x="7582952" y="0"/>
                  </a:lnTo>
                  <a:lnTo>
                    <a:pt x="7582952" y="3827760"/>
                  </a:lnTo>
                  <a:lnTo>
                    <a:pt x="0" y="3827760"/>
                  </a:lnTo>
                  <a:lnTo>
                    <a:pt x="0" y="0"/>
                  </a:lnTo>
                  <a:close/>
                </a:path>
              </a:pathLst>
            </a:custGeom>
            <a:blipFill>
              <a:blip r:embed="rId3"/>
              <a:stretch>
                <a:fillRect t="-32189"/>
              </a:stretch>
            </a:blipFill>
          </p:spPr>
        </p:sp>
        <p:sp>
          <p:nvSpPr>
            <p:cNvPr id="23" name="Freeform 23"/>
            <p:cNvSpPr/>
            <p:nvPr/>
          </p:nvSpPr>
          <p:spPr>
            <a:xfrm>
              <a:off x="4484755" y="1126027"/>
              <a:ext cx="4732133" cy="2998989"/>
            </a:xfrm>
            <a:custGeom>
              <a:avLst/>
              <a:gdLst/>
              <a:ahLst/>
              <a:cxnLst/>
              <a:rect l="l" t="t" r="r" b="b"/>
              <a:pathLst>
                <a:path w="4732133" h="2998989">
                  <a:moveTo>
                    <a:pt x="0" y="0"/>
                  </a:moveTo>
                  <a:lnTo>
                    <a:pt x="4732133" y="0"/>
                  </a:lnTo>
                  <a:lnTo>
                    <a:pt x="4732133" y="2998989"/>
                  </a:lnTo>
                  <a:lnTo>
                    <a:pt x="0" y="2998989"/>
                  </a:lnTo>
                  <a:lnTo>
                    <a:pt x="0" y="0"/>
                  </a:lnTo>
                  <a:close/>
                </a:path>
              </a:pathLst>
            </a:custGeom>
            <a:blipFill>
              <a:blip r:embed="rId4"/>
              <a:stretch>
                <a:fillRect/>
              </a:stretch>
            </a:blipFill>
          </p:spPr>
        </p:sp>
      </p:grpSp>
      <p:sp>
        <p:nvSpPr>
          <p:cNvPr id="24" name="Freeform 24"/>
          <p:cNvSpPr/>
          <p:nvPr/>
        </p:nvSpPr>
        <p:spPr>
          <a:xfrm>
            <a:off x="6651693" y="6312942"/>
            <a:ext cx="5410453" cy="4381912"/>
          </a:xfrm>
          <a:custGeom>
            <a:avLst/>
            <a:gdLst/>
            <a:ahLst/>
            <a:cxnLst/>
            <a:rect l="l" t="t" r="r" b="b"/>
            <a:pathLst>
              <a:path w="5410453" h="4381912">
                <a:moveTo>
                  <a:pt x="0" y="0"/>
                </a:moveTo>
                <a:lnTo>
                  <a:pt x="5410453" y="0"/>
                </a:lnTo>
                <a:lnTo>
                  <a:pt x="5410453" y="4381912"/>
                </a:lnTo>
                <a:lnTo>
                  <a:pt x="0" y="4381912"/>
                </a:lnTo>
                <a:lnTo>
                  <a:pt x="0" y="0"/>
                </a:lnTo>
                <a:close/>
              </a:path>
            </a:pathLst>
          </a:custGeom>
          <a:blipFill>
            <a:blip r:embed="rId5"/>
            <a:stretch>
              <a:fillRect l="-51372" r="-5129"/>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2935"/>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457450"/>
            <a:chOff x="0" y="0"/>
            <a:chExt cx="4816593" cy="647230"/>
          </a:xfrm>
        </p:grpSpPr>
        <p:sp>
          <p:nvSpPr>
            <p:cNvPr id="3" name="Freeform 3"/>
            <p:cNvSpPr/>
            <p:nvPr/>
          </p:nvSpPr>
          <p:spPr>
            <a:xfrm>
              <a:off x="0" y="0"/>
              <a:ext cx="4816592" cy="647230"/>
            </a:xfrm>
            <a:custGeom>
              <a:avLst/>
              <a:gdLst/>
              <a:ahLst/>
              <a:cxnLst/>
              <a:rect l="l" t="t" r="r" b="b"/>
              <a:pathLst>
                <a:path w="4816592" h="647230">
                  <a:moveTo>
                    <a:pt x="0" y="0"/>
                  </a:moveTo>
                  <a:lnTo>
                    <a:pt x="4816592" y="0"/>
                  </a:lnTo>
                  <a:lnTo>
                    <a:pt x="4816592" y="647230"/>
                  </a:lnTo>
                  <a:lnTo>
                    <a:pt x="0" y="647230"/>
                  </a:lnTo>
                  <a:close/>
                </a:path>
              </a:pathLst>
            </a:custGeom>
            <a:solidFill>
              <a:srgbClr val="A0D8EF"/>
            </a:solidFill>
          </p:spPr>
        </p:sp>
        <p:sp>
          <p:nvSpPr>
            <p:cNvPr id="4" name="TextBox 4"/>
            <p:cNvSpPr txBox="1"/>
            <p:nvPr/>
          </p:nvSpPr>
          <p:spPr>
            <a:xfrm>
              <a:off x="0" y="-38100"/>
              <a:ext cx="4816593" cy="685330"/>
            </a:xfrm>
            <a:prstGeom prst="rect">
              <a:avLst/>
            </a:prstGeom>
          </p:spPr>
          <p:txBody>
            <a:bodyPr lIns="50800" tIns="50800" rIns="50800" bIns="50800" rtlCol="0" anchor="ctr"/>
            <a:lstStyle/>
            <a:p>
              <a:pPr algn="ctr">
                <a:lnSpc>
                  <a:spcPts val="2800"/>
                </a:lnSpc>
              </a:pPr>
              <a:endParaRPr/>
            </a:p>
          </p:txBody>
        </p:sp>
      </p:grpSp>
      <p:sp>
        <p:nvSpPr>
          <p:cNvPr id="5" name="Freeform 5"/>
          <p:cNvSpPr/>
          <p:nvPr/>
        </p:nvSpPr>
        <p:spPr>
          <a:xfrm>
            <a:off x="1359261" y="2819400"/>
            <a:ext cx="3488330" cy="2324100"/>
          </a:xfrm>
          <a:custGeom>
            <a:avLst/>
            <a:gdLst/>
            <a:ahLst/>
            <a:cxnLst/>
            <a:rect l="l" t="t" r="r" b="b"/>
            <a:pathLst>
              <a:path w="3488330" h="2324100">
                <a:moveTo>
                  <a:pt x="0" y="0"/>
                </a:moveTo>
                <a:lnTo>
                  <a:pt x="3488330" y="0"/>
                </a:lnTo>
                <a:lnTo>
                  <a:pt x="3488330" y="2324100"/>
                </a:lnTo>
                <a:lnTo>
                  <a:pt x="0" y="2324100"/>
                </a:lnTo>
                <a:lnTo>
                  <a:pt x="0" y="0"/>
                </a:lnTo>
                <a:close/>
              </a:path>
            </a:pathLst>
          </a:custGeom>
          <a:blipFill>
            <a:blip r:embed="rId2"/>
            <a:stretch>
              <a:fillRect/>
            </a:stretch>
          </a:blipFill>
        </p:spPr>
      </p:sp>
      <p:sp>
        <p:nvSpPr>
          <p:cNvPr id="6" name="Freeform 6" descr="A traditional Korean pavilion with a green, red, and yellow ornate roof, supported by red pillars, amidst lush green trees."/>
          <p:cNvSpPr/>
          <p:nvPr/>
        </p:nvSpPr>
        <p:spPr>
          <a:xfrm>
            <a:off x="7257416" y="2819400"/>
            <a:ext cx="3397670" cy="2532809"/>
          </a:xfrm>
          <a:custGeom>
            <a:avLst/>
            <a:gdLst/>
            <a:ahLst/>
            <a:cxnLst/>
            <a:rect l="l" t="t" r="r" b="b"/>
            <a:pathLst>
              <a:path w="3397670" h="2532809">
                <a:moveTo>
                  <a:pt x="0" y="0"/>
                </a:moveTo>
                <a:lnTo>
                  <a:pt x="3397671" y="0"/>
                </a:lnTo>
                <a:lnTo>
                  <a:pt x="3397671" y="2532809"/>
                </a:lnTo>
                <a:lnTo>
                  <a:pt x="0" y="2532809"/>
                </a:lnTo>
                <a:lnTo>
                  <a:pt x="0" y="0"/>
                </a:lnTo>
                <a:close/>
              </a:path>
            </a:pathLst>
          </a:custGeom>
          <a:blipFill>
            <a:blip r:embed="rId3"/>
            <a:stretch>
              <a:fillRect/>
            </a:stretch>
          </a:blipFill>
        </p:spPr>
      </p:sp>
      <p:sp>
        <p:nvSpPr>
          <p:cNvPr id="7" name="Freeform 7"/>
          <p:cNvSpPr/>
          <p:nvPr/>
        </p:nvSpPr>
        <p:spPr>
          <a:xfrm>
            <a:off x="13061195" y="2819400"/>
            <a:ext cx="3801589" cy="2532809"/>
          </a:xfrm>
          <a:custGeom>
            <a:avLst/>
            <a:gdLst/>
            <a:ahLst/>
            <a:cxnLst/>
            <a:rect l="l" t="t" r="r" b="b"/>
            <a:pathLst>
              <a:path w="3801589" h="2532809">
                <a:moveTo>
                  <a:pt x="0" y="0"/>
                </a:moveTo>
                <a:lnTo>
                  <a:pt x="3801589" y="0"/>
                </a:lnTo>
                <a:lnTo>
                  <a:pt x="3801589" y="2532809"/>
                </a:lnTo>
                <a:lnTo>
                  <a:pt x="0" y="2532809"/>
                </a:lnTo>
                <a:lnTo>
                  <a:pt x="0" y="0"/>
                </a:lnTo>
                <a:close/>
              </a:path>
            </a:pathLst>
          </a:custGeom>
          <a:blipFill>
            <a:blip r:embed="rId4"/>
            <a:stretch>
              <a:fillRect/>
            </a:stretch>
          </a:blipFill>
        </p:spPr>
      </p:sp>
      <p:sp>
        <p:nvSpPr>
          <p:cNvPr id="8" name="TextBox 8"/>
          <p:cNvSpPr txBox="1"/>
          <p:nvPr/>
        </p:nvSpPr>
        <p:spPr>
          <a:xfrm>
            <a:off x="666750" y="809625"/>
            <a:ext cx="16954500" cy="1069976"/>
          </a:xfrm>
          <a:prstGeom prst="rect">
            <a:avLst/>
          </a:prstGeom>
        </p:spPr>
        <p:txBody>
          <a:bodyPr lIns="0" tIns="0" rIns="0" bIns="0" rtlCol="0" anchor="t">
            <a:spAutoFit/>
          </a:bodyPr>
          <a:lstStyle/>
          <a:p>
            <a:pPr marL="0" lvl="0" indent="0" algn="l">
              <a:lnSpc>
                <a:spcPts val="8000"/>
              </a:lnSpc>
            </a:pPr>
            <a:r>
              <a:rPr lang="en-US" sz="8000" spc="-240">
                <a:solidFill>
                  <a:srgbClr val="1A2935"/>
                </a:solidFill>
                <a:latin typeface="Georgia Pro Condensed"/>
                <a:ea typeface="Georgia Pro Condensed"/>
                <a:cs typeface="Georgia Pro Condensed"/>
                <a:sym typeface="Georgia Pro Condensed"/>
              </a:rPr>
              <a:t>Possible Data Sources</a:t>
            </a:r>
          </a:p>
        </p:txBody>
      </p:sp>
      <p:grpSp>
        <p:nvGrpSpPr>
          <p:cNvPr id="9" name="Group 9"/>
          <p:cNvGrpSpPr/>
          <p:nvPr/>
        </p:nvGrpSpPr>
        <p:grpSpPr>
          <a:xfrm>
            <a:off x="1359261" y="5505450"/>
            <a:ext cx="3488330" cy="4237932"/>
            <a:chOff x="0" y="0"/>
            <a:chExt cx="4651107" cy="5650576"/>
          </a:xfrm>
        </p:grpSpPr>
        <p:grpSp>
          <p:nvGrpSpPr>
            <p:cNvPr id="10" name="Group 10"/>
            <p:cNvGrpSpPr/>
            <p:nvPr/>
          </p:nvGrpSpPr>
          <p:grpSpPr>
            <a:xfrm rot="5400000">
              <a:off x="-499735" y="499735"/>
              <a:ext cx="5650576" cy="4651107"/>
              <a:chOff x="0" y="0"/>
              <a:chExt cx="635000" cy="522682"/>
            </a:xfrm>
          </p:grpSpPr>
          <p:sp>
            <p:nvSpPr>
              <p:cNvPr id="11" name="Freeform 11"/>
              <p:cNvSpPr/>
              <p:nvPr/>
            </p:nvSpPr>
            <p:spPr>
              <a:xfrm>
                <a:off x="0" y="0"/>
                <a:ext cx="635000" cy="522682"/>
              </a:xfrm>
              <a:custGeom>
                <a:avLst/>
                <a:gdLst/>
                <a:ahLst/>
                <a:cxnLst/>
                <a:rect l="l" t="t" r="r" b="b"/>
                <a:pathLst>
                  <a:path w="635000" h="522682">
                    <a:moveTo>
                      <a:pt x="35680" y="0"/>
                    </a:moveTo>
                    <a:lnTo>
                      <a:pt x="599320" y="0"/>
                    </a:lnTo>
                    <a:cubicBezTo>
                      <a:pt x="619026" y="0"/>
                      <a:pt x="635000" y="15974"/>
                      <a:pt x="635000" y="35680"/>
                    </a:cubicBezTo>
                    <a:lnTo>
                      <a:pt x="635000" y="487002"/>
                    </a:lnTo>
                    <a:cubicBezTo>
                      <a:pt x="635000" y="506707"/>
                      <a:pt x="619026" y="522682"/>
                      <a:pt x="599320" y="522682"/>
                    </a:cubicBezTo>
                    <a:lnTo>
                      <a:pt x="35680" y="522682"/>
                    </a:lnTo>
                    <a:cubicBezTo>
                      <a:pt x="15974" y="522682"/>
                      <a:pt x="0" y="506707"/>
                      <a:pt x="0" y="487002"/>
                    </a:cubicBezTo>
                    <a:lnTo>
                      <a:pt x="0" y="35680"/>
                    </a:lnTo>
                    <a:cubicBezTo>
                      <a:pt x="0" y="15974"/>
                      <a:pt x="15974" y="0"/>
                      <a:pt x="35680" y="0"/>
                    </a:cubicBezTo>
                    <a:close/>
                  </a:path>
                </a:pathLst>
              </a:custGeom>
              <a:solidFill>
                <a:srgbClr val="E4DFD0"/>
              </a:solidFill>
            </p:spPr>
          </p:sp>
          <p:sp>
            <p:nvSpPr>
              <p:cNvPr id="12" name="TextBox 12"/>
              <p:cNvSpPr txBox="1"/>
              <p:nvPr/>
            </p:nvSpPr>
            <p:spPr>
              <a:xfrm>
                <a:off x="0" y="-38100"/>
                <a:ext cx="635000" cy="560782"/>
              </a:xfrm>
              <a:prstGeom prst="rect">
                <a:avLst/>
              </a:prstGeom>
            </p:spPr>
            <p:txBody>
              <a:bodyPr lIns="50800" tIns="50800" rIns="50800" bIns="50800" rtlCol="0" anchor="ctr"/>
              <a:lstStyle/>
              <a:p>
                <a:pPr algn="ctr">
                  <a:lnSpc>
                    <a:spcPts val="2800"/>
                  </a:lnSpc>
                </a:pPr>
                <a:endParaRPr/>
              </a:p>
            </p:txBody>
          </p:sp>
        </p:grpSp>
        <p:sp>
          <p:nvSpPr>
            <p:cNvPr id="13" name="TextBox 13"/>
            <p:cNvSpPr txBox="1"/>
            <p:nvPr/>
          </p:nvSpPr>
          <p:spPr>
            <a:xfrm>
              <a:off x="294151" y="508617"/>
              <a:ext cx="4023134" cy="4226772"/>
            </a:xfrm>
            <a:prstGeom prst="rect">
              <a:avLst/>
            </a:prstGeom>
          </p:spPr>
          <p:txBody>
            <a:bodyPr lIns="0" tIns="0" rIns="0" bIns="0" rtlCol="0" anchor="t">
              <a:spAutoFit/>
            </a:bodyPr>
            <a:lstStyle/>
            <a:p>
              <a:pPr algn="ctr">
                <a:lnSpc>
                  <a:spcPts val="3639"/>
                </a:lnSpc>
                <a:spcBef>
                  <a:spcPct val="0"/>
                </a:spcBef>
              </a:pPr>
              <a:r>
                <a:rPr lang="en-US" sz="2599">
                  <a:solidFill>
                    <a:srgbClr val="000000"/>
                  </a:solidFill>
                  <a:latin typeface="Helvetica World"/>
                  <a:ea typeface="Helvetica World"/>
                  <a:cs typeface="Helvetica World"/>
                  <a:sym typeface="Helvetica World"/>
                </a:rPr>
                <a:t>41 .csv files collected from 20 residential electricity households within a community in Ireland as part of StoreNet project.</a:t>
              </a:r>
            </a:p>
          </p:txBody>
        </p:sp>
      </p:grpSp>
      <p:grpSp>
        <p:nvGrpSpPr>
          <p:cNvPr id="14" name="Group 14"/>
          <p:cNvGrpSpPr/>
          <p:nvPr/>
        </p:nvGrpSpPr>
        <p:grpSpPr>
          <a:xfrm>
            <a:off x="7257416" y="5505450"/>
            <a:ext cx="3488330" cy="4237932"/>
            <a:chOff x="0" y="0"/>
            <a:chExt cx="4651107" cy="5650576"/>
          </a:xfrm>
        </p:grpSpPr>
        <p:grpSp>
          <p:nvGrpSpPr>
            <p:cNvPr id="15" name="Group 15"/>
            <p:cNvGrpSpPr/>
            <p:nvPr/>
          </p:nvGrpSpPr>
          <p:grpSpPr>
            <a:xfrm rot="5400000">
              <a:off x="-499735" y="499735"/>
              <a:ext cx="5650576" cy="4651107"/>
              <a:chOff x="0" y="0"/>
              <a:chExt cx="635000" cy="522682"/>
            </a:xfrm>
          </p:grpSpPr>
          <p:sp>
            <p:nvSpPr>
              <p:cNvPr id="16" name="Freeform 16"/>
              <p:cNvSpPr/>
              <p:nvPr/>
            </p:nvSpPr>
            <p:spPr>
              <a:xfrm>
                <a:off x="0" y="0"/>
                <a:ext cx="635000" cy="522682"/>
              </a:xfrm>
              <a:custGeom>
                <a:avLst/>
                <a:gdLst/>
                <a:ahLst/>
                <a:cxnLst/>
                <a:rect l="l" t="t" r="r" b="b"/>
                <a:pathLst>
                  <a:path w="635000" h="522682">
                    <a:moveTo>
                      <a:pt x="35680" y="0"/>
                    </a:moveTo>
                    <a:lnTo>
                      <a:pt x="599320" y="0"/>
                    </a:lnTo>
                    <a:cubicBezTo>
                      <a:pt x="619026" y="0"/>
                      <a:pt x="635000" y="15974"/>
                      <a:pt x="635000" y="35680"/>
                    </a:cubicBezTo>
                    <a:lnTo>
                      <a:pt x="635000" y="487002"/>
                    </a:lnTo>
                    <a:cubicBezTo>
                      <a:pt x="635000" y="506707"/>
                      <a:pt x="619026" y="522682"/>
                      <a:pt x="599320" y="522682"/>
                    </a:cubicBezTo>
                    <a:lnTo>
                      <a:pt x="35680" y="522682"/>
                    </a:lnTo>
                    <a:cubicBezTo>
                      <a:pt x="15974" y="522682"/>
                      <a:pt x="0" y="506707"/>
                      <a:pt x="0" y="487002"/>
                    </a:cubicBezTo>
                    <a:lnTo>
                      <a:pt x="0" y="35680"/>
                    </a:lnTo>
                    <a:cubicBezTo>
                      <a:pt x="0" y="15974"/>
                      <a:pt x="15974" y="0"/>
                      <a:pt x="35680" y="0"/>
                    </a:cubicBezTo>
                    <a:close/>
                  </a:path>
                </a:pathLst>
              </a:custGeom>
              <a:solidFill>
                <a:srgbClr val="E4DFD0"/>
              </a:solidFill>
            </p:spPr>
          </p:sp>
          <p:sp>
            <p:nvSpPr>
              <p:cNvPr id="17" name="TextBox 17"/>
              <p:cNvSpPr txBox="1"/>
              <p:nvPr/>
            </p:nvSpPr>
            <p:spPr>
              <a:xfrm>
                <a:off x="0" y="-38100"/>
                <a:ext cx="635000" cy="560782"/>
              </a:xfrm>
              <a:prstGeom prst="rect">
                <a:avLst/>
              </a:prstGeom>
            </p:spPr>
            <p:txBody>
              <a:bodyPr lIns="50800" tIns="50800" rIns="50800" bIns="50800" rtlCol="0" anchor="ctr"/>
              <a:lstStyle/>
              <a:p>
                <a:pPr algn="ctr">
                  <a:lnSpc>
                    <a:spcPts val="2800"/>
                  </a:lnSpc>
                </a:pPr>
                <a:endParaRPr/>
              </a:p>
            </p:txBody>
          </p:sp>
        </p:grpSp>
        <p:sp>
          <p:nvSpPr>
            <p:cNvPr id="18" name="TextBox 18"/>
            <p:cNvSpPr txBox="1"/>
            <p:nvPr/>
          </p:nvSpPr>
          <p:spPr>
            <a:xfrm>
              <a:off x="294151" y="508617"/>
              <a:ext cx="4023134" cy="3617172"/>
            </a:xfrm>
            <a:prstGeom prst="rect">
              <a:avLst/>
            </a:prstGeom>
          </p:spPr>
          <p:txBody>
            <a:bodyPr lIns="0" tIns="0" rIns="0" bIns="0" rtlCol="0" anchor="t">
              <a:spAutoFit/>
            </a:bodyPr>
            <a:lstStyle/>
            <a:p>
              <a:pPr algn="ctr">
                <a:lnSpc>
                  <a:spcPts val="3639"/>
                </a:lnSpc>
                <a:spcBef>
                  <a:spcPct val="0"/>
                </a:spcBef>
              </a:pPr>
              <a:r>
                <a:rPr lang="en-US" sz="2599">
                  <a:solidFill>
                    <a:srgbClr val="000000"/>
                  </a:solidFill>
                  <a:latin typeface="Helvetica World"/>
                  <a:ea typeface="Helvetica World"/>
                  <a:cs typeface="Helvetica World"/>
                  <a:sym typeface="Helvetica World"/>
                </a:rPr>
                <a:t>Aggregate and per-appliance measurements sampled at 15 Hz from 22 houses in Korea.</a:t>
              </a:r>
            </a:p>
          </p:txBody>
        </p:sp>
      </p:grpSp>
      <p:grpSp>
        <p:nvGrpSpPr>
          <p:cNvPr id="19" name="Group 19"/>
          <p:cNvGrpSpPr/>
          <p:nvPr/>
        </p:nvGrpSpPr>
        <p:grpSpPr>
          <a:xfrm>
            <a:off x="13217824" y="5505450"/>
            <a:ext cx="3488330" cy="4237932"/>
            <a:chOff x="0" y="0"/>
            <a:chExt cx="4651107" cy="5650576"/>
          </a:xfrm>
        </p:grpSpPr>
        <p:grpSp>
          <p:nvGrpSpPr>
            <p:cNvPr id="20" name="Group 20"/>
            <p:cNvGrpSpPr/>
            <p:nvPr/>
          </p:nvGrpSpPr>
          <p:grpSpPr>
            <a:xfrm rot="5400000">
              <a:off x="-499735" y="499735"/>
              <a:ext cx="5650576" cy="4651107"/>
              <a:chOff x="0" y="0"/>
              <a:chExt cx="635000" cy="522682"/>
            </a:xfrm>
          </p:grpSpPr>
          <p:sp>
            <p:nvSpPr>
              <p:cNvPr id="21" name="Freeform 21"/>
              <p:cNvSpPr/>
              <p:nvPr/>
            </p:nvSpPr>
            <p:spPr>
              <a:xfrm>
                <a:off x="0" y="0"/>
                <a:ext cx="635000" cy="522682"/>
              </a:xfrm>
              <a:custGeom>
                <a:avLst/>
                <a:gdLst/>
                <a:ahLst/>
                <a:cxnLst/>
                <a:rect l="l" t="t" r="r" b="b"/>
                <a:pathLst>
                  <a:path w="635000" h="522682">
                    <a:moveTo>
                      <a:pt x="35680" y="0"/>
                    </a:moveTo>
                    <a:lnTo>
                      <a:pt x="599320" y="0"/>
                    </a:lnTo>
                    <a:cubicBezTo>
                      <a:pt x="619026" y="0"/>
                      <a:pt x="635000" y="15974"/>
                      <a:pt x="635000" y="35680"/>
                    </a:cubicBezTo>
                    <a:lnTo>
                      <a:pt x="635000" y="487002"/>
                    </a:lnTo>
                    <a:cubicBezTo>
                      <a:pt x="635000" y="506707"/>
                      <a:pt x="619026" y="522682"/>
                      <a:pt x="599320" y="522682"/>
                    </a:cubicBezTo>
                    <a:lnTo>
                      <a:pt x="35680" y="522682"/>
                    </a:lnTo>
                    <a:cubicBezTo>
                      <a:pt x="15974" y="522682"/>
                      <a:pt x="0" y="506707"/>
                      <a:pt x="0" y="487002"/>
                    </a:cubicBezTo>
                    <a:lnTo>
                      <a:pt x="0" y="35680"/>
                    </a:lnTo>
                    <a:cubicBezTo>
                      <a:pt x="0" y="15974"/>
                      <a:pt x="15974" y="0"/>
                      <a:pt x="35680" y="0"/>
                    </a:cubicBezTo>
                    <a:close/>
                  </a:path>
                </a:pathLst>
              </a:custGeom>
              <a:solidFill>
                <a:srgbClr val="E4DFD0"/>
              </a:solidFill>
            </p:spPr>
          </p:sp>
          <p:sp>
            <p:nvSpPr>
              <p:cNvPr id="22" name="TextBox 22"/>
              <p:cNvSpPr txBox="1"/>
              <p:nvPr/>
            </p:nvSpPr>
            <p:spPr>
              <a:xfrm>
                <a:off x="0" y="-38100"/>
                <a:ext cx="635000" cy="560782"/>
              </a:xfrm>
              <a:prstGeom prst="rect">
                <a:avLst/>
              </a:prstGeom>
            </p:spPr>
            <p:txBody>
              <a:bodyPr lIns="50800" tIns="50800" rIns="50800" bIns="50800" rtlCol="0" anchor="ctr"/>
              <a:lstStyle/>
              <a:p>
                <a:pPr algn="ctr">
                  <a:lnSpc>
                    <a:spcPts val="2800"/>
                  </a:lnSpc>
                </a:pPr>
                <a:endParaRPr/>
              </a:p>
            </p:txBody>
          </p:sp>
        </p:grpSp>
        <p:sp>
          <p:nvSpPr>
            <p:cNvPr id="23" name="TextBox 23"/>
            <p:cNvSpPr txBox="1"/>
            <p:nvPr/>
          </p:nvSpPr>
          <p:spPr>
            <a:xfrm>
              <a:off x="294151" y="508617"/>
              <a:ext cx="4023134" cy="4226772"/>
            </a:xfrm>
            <a:prstGeom prst="rect">
              <a:avLst/>
            </a:prstGeom>
          </p:spPr>
          <p:txBody>
            <a:bodyPr lIns="0" tIns="0" rIns="0" bIns="0" rtlCol="0" anchor="t">
              <a:spAutoFit/>
            </a:bodyPr>
            <a:lstStyle/>
            <a:p>
              <a:pPr algn="ctr">
                <a:lnSpc>
                  <a:spcPts val="3639"/>
                </a:lnSpc>
                <a:spcBef>
                  <a:spcPct val="0"/>
                </a:spcBef>
              </a:pPr>
              <a:r>
                <a:rPr lang="en-US" sz="2599">
                  <a:solidFill>
                    <a:srgbClr val="000000"/>
                  </a:solidFill>
                  <a:latin typeface="Helvetica World"/>
                  <a:ea typeface="Helvetica World"/>
                  <a:cs typeface="Helvetica World"/>
                  <a:sym typeface="Helvetica World"/>
                </a:rPr>
                <a:t>Archive of 2,075,259 measurements of active energy consumed every minute of one house in Sceauz, France fo 47 months.</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2935"/>
        </a:solidFill>
        <a:effectLst/>
      </p:bgPr>
    </p:bg>
    <p:spTree>
      <p:nvGrpSpPr>
        <p:cNvPr id="1" name=""/>
        <p:cNvGrpSpPr/>
        <p:nvPr/>
      </p:nvGrpSpPr>
      <p:grpSpPr>
        <a:xfrm>
          <a:off x="0" y="0"/>
          <a:ext cx="0" cy="0"/>
          <a:chOff x="0" y="0"/>
          <a:chExt cx="0" cy="0"/>
        </a:xfrm>
      </p:grpSpPr>
      <p:grpSp>
        <p:nvGrpSpPr>
          <p:cNvPr id="2" name="Group 2"/>
          <p:cNvGrpSpPr/>
          <p:nvPr/>
        </p:nvGrpSpPr>
        <p:grpSpPr>
          <a:xfrm>
            <a:off x="9296400" y="0"/>
            <a:ext cx="8991600" cy="3352800"/>
            <a:chOff x="0" y="0"/>
            <a:chExt cx="2368158" cy="883042"/>
          </a:xfrm>
        </p:grpSpPr>
        <p:sp>
          <p:nvSpPr>
            <p:cNvPr id="3" name="Freeform 3"/>
            <p:cNvSpPr/>
            <p:nvPr/>
          </p:nvSpPr>
          <p:spPr>
            <a:xfrm>
              <a:off x="0" y="0"/>
              <a:ext cx="2368158" cy="883042"/>
            </a:xfrm>
            <a:custGeom>
              <a:avLst/>
              <a:gdLst/>
              <a:ahLst/>
              <a:cxnLst/>
              <a:rect l="l" t="t" r="r" b="b"/>
              <a:pathLst>
                <a:path w="2368158" h="883042">
                  <a:moveTo>
                    <a:pt x="0" y="0"/>
                  </a:moveTo>
                  <a:lnTo>
                    <a:pt x="2368158" y="0"/>
                  </a:lnTo>
                  <a:lnTo>
                    <a:pt x="2368158" y="883042"/>
                  </a:lnTo>
                  <a:lnTo>
                    <a:pt x="0" y="883042"/>
                  </a:lnTo>
                  <a:close/>
                </a:path>
              </a:pathLst>
            </a:custGeom>
            <a:solidFill>
              <a:srgbClr val="1A2935"/>
            </a:solidFill>
          </p:spPr>
        </p:sp>
        <p:sp>
          <p:nvSpPr>
            <p:cNvPr id="4" name="TextBox 4"/>
            <p:cNvSpPr txBox="1"/>
            <p:nvPr/>
          </p:nvSpPr>
          <p:spPr>
            <a:xfrm>
              <a:off x="0" y="-38100"/>
              <a:ext cx="2368158" cy="921142"/>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8991600" y="939800"/>
            <a:ext cx="9296400" cy="10287000"/>
            <a:chOff x="0" y="0"/>
            <a:chExt cx="1220873" cy="1350966"/>
          </a:xfrm>
        </p:grpSpPr>
        <p:sp>
          <p:nvSpPr>
            <p:cNvPr id="6" name="Freeform 6"/>
            <p:cNvSpPr/>
            <p:nvPr/>
          </p:nvSpPr>
          <p:spPr>
            <a:xfrm>
              <a:off x="0" y="0"/>
              <a:ext cx="1220873" cy="1350966"/>
            </a:xfrm>
            <a:custGeom>
              <a:avLst/>
              <a:gdLst/>
              <a:ahLst/>
              <a:cxnLst/>
              <a:rect l="l" t="t" r="r" b="b"/>
              <a:pathLst>
                <a:path w="1220873" h="1350966">
                  <a:moveTo>
                    <a:pt x="0" y="0"/>
                  </a:moveTo>
                  <a:lnTo>
                    <a:pt x="1220873" y="0"/>
                  </a:lnTo>
                  <a:lnTo>
                    <a:pt x="1220873" y="1350966"/>
                  </a:lnTo>
                  <a:lnTo>
                    <a:pt x="0" y="1350966"/>
                  </a:lnTo>
                  <a:close/>
                </a:path>
              </a:pathLst>
            </a:custGeom>
            <a:blipFill>
              <a:blip r:embed="rId2"/>
              <a:stretch>
                <a:fillRect l="-417" r="-417"/>
              </a:stretch>
            </a:blipFill>
          </p:spPr>
        </p:sp>
      </p:grpSp>
      <p:grpSp>
        <p:nvGrpSpPr>
          <p:cNvPr id="7" name="Group 7"/>
          <p:cNvGrpSpPr/>
          <p:nvPr/>
        </p:nvGrpSpPr>
        <p:grpSpPr>
          <a:xfrm>
            <a:off x="0" y="0"/>
            <a:ext cx="18288000" cy="1879601"/>
            <a:chOff x="0" y="0"/>
            <a:chExt cx="4816593" cy="495039"/>
          </a:xfrm>
        </p:grpSpPr>
        <p:sp>
          <p:nvSpPr>
            <p:cNvPr id="8" name="Freeform 8"/>
            <p:cNvSpPr/>
            <p:nvPr/>
          </p:nvSpPr>
          <p:spPr>
            <a:xfrm>
              <a:off x="0" y="0"/>
              <a:ext cx="4816592" cy="495039"/>
            </a:xfrm>
            <a:custGeom>
              <a:avLst/>
              <a:gdLst/>
              <a:ahLst/>
              <a:cxnLst/>
              <a:rect l="l" t="t" r="r" b="b"/>
              <a:pathLst>
                <a:path w="4816592" h="495039">
                  <a:moveTo>
                    <a:pt x="0" y="0"/>
                  </a:moveTo>
                  <a:lnTo>
                    <a:pt x="4816592" y="0"/>
                  </a:lnTo>
                  <a:lnTo>
                    <a:pt x="4816592" y="495039"/>
                  </a:lnTo>
                  <a:lnTo>
                    <a:pt x="0" y="495039"/>
                  </a:lnTo>
                  <a:close/>
                </a:path>
              </a:pathLst>
            </a:custGeom>
            <a:solidFill>
              <a:srgbClr val="A0D8EF"/>
            </a:solidFill>
          </p:spPr>
        </p:sp>
        <p:sp>
          <p:nvSpPr>
            <p:cNvPr id="9" name="TextBox 9"/>
            <p:cNvSpPr txBox="1"/>
            <p:nvPr/>
          </p:nvSpPr>
          <p:spPr>
            <a:xfrm>
              <a:off x="0" y="-38100"/>
              <a:ext cx="4816593" cy="533139"/>
            </a:xfrm>
            <a:prstGeom prst="rect">
              <a:avLst/>
            </a:prstGeom>
          </p:spPr>
          <p:txBody>
            <a:bodyPr lIns="50800" tIns="50800" rIns="50800" bIns="50800" rtlCol="0" anchor="ctr"/>
            <a:lstStyle/>
            <a:p>
              <a:pPr algn="ctr">
                <a:lnSpc>
                  <a:spcPts val="2800"/>
                </a:lnSpc>
              </a:pPr>
              <a:endParaRPr/>
            </a:p>
          </p:txBody>
        </p:sp>
      </p:grpSp>
      <p:sp>
        <p:nvSpPr>
          <p:cNvPr id="10" name="TextBox 10"/>
          <p:cNvSpPr txBox="1"/>
          <p:nvPr/>
        </p:nvSpPr>
        <p:spPr>
          <a:xfrm>
            <a:off x="666750" y="476250"/>
            <a:ext cx="10454965" cy="1069976"/>
          </a:xfrm>
          <a:prstGeom prst="rect">
            <a:avLst/>
          </a:prstGeom>
        </p:spPr>
        <p:txBody>
          <a:bodyPr lIns="0" tIns="0" rIns="0" bIns="0" rtlCol="0" anchor="t">
            <a:spAutoFit/>
          </a:bodyPr>
          <a:lstStyle/>
          <a:p>
            <a:pPr marL="0" lvl="0" indent="0" algn="l">
              <a:lnSpc>
                <a:spcPts val="8000"/>
              </a:lnSpc>
              <a:spcBef>
                <a:spcPct val="0"/>
              </a:spcBef>
            </a:pPr>
            <a:r>
              <a:rPr lang="en-US" sz="8000">
                <a:solidFill>
                  <a:srgbClr val="072B53"/>
                </a:solidFill>
                <a:latin typeface="Georgia Pro Condensed"/>
                <a:ea typeface="Georgia Pro Condensed"/>
                <a:cs typeface="Georgia Pro Condensed"/>
                <a:sym typeface="Georgia Pro Condensed"/>
              </a:rPr>
              <a:t>Documented </a:t>
            </a:r>
            <a:r>
              <a:rPr lang="en-US" sz="8000" u="none" strike="noStrike">
                <a:solidFill>
                  <a:srgbClr val="072B53"/>
                </a:solidFill>
                <a:latin typeface="Georgia Pro Condensed"/>
                <a:ea typeface="Georgia Pro Condensed"/>
                <a:cs typeface="Georgia Pro Condensed"/>
                <a:sym typeface="Georgia Pro Condensed"/>
              </a:rPr>
              <a:t>Challenges</a:t>
            </a:r>
          </a:p>
        </p:txBody>
      </p:sp>
      <p:sp>
        <p:nvSpPr>
          <p:cNvPr id="11" name="TextBox 11"/>
          <p:cNvSpPr txBox="1"/>
          <p:nvPr/>
        </p:nvSpPr>
        <p:spPr>
          <a:xfrm>
            <a:off x="809625" y="2373076"/>
            <a:ext cx="6886575" cy="542925"/>
          </a:xfrm>
          <a:prstGeom prst="rect">
            <a:avLst/>
          </a:prstGeom>
        </p:spPr>
        <p:txBody>
          <a:bodyPr lIns="0" tIns="0" rIns="0" bIns="0" rtlCol="0" anchor="t">
            <a:spAutoFit/>
          </a:bodyPr>
          <a:lstStyle/>
          <a:p>
            <a:pPr marL="0" lvl="0" indent="0" algn="l">
              <a:lnSpc>
                <a:spcPts val="4199"/>
              </a:lnSpc>
            </a:pPr>
            <a:r>
              <a:rPr lang="en-US" sz="2999" b="1" spc="-44" dirty="0">
                <a:solidFill>
                  <a:srgbClr val="E1B382"/>
                </a:solidFill>
                <a:latin typeface="Helvetica World Bold"/>
                <a:ea typeface="Helvetica World Bold"/>
                <a:cs typeface="Helvetica World Bold"/>
                <a:sym typeface="Helvetica World Bold"/>
              </a:rPr>
              <a:t>Grid Challenges</a:t>
            </a:r>
          </a:p>
        </p:txBody>
      </p:sp>
      <p:sp>
        <p:nvSpPr>
          <p:cNvPr id="12" name="TextBox 12"/>
          <p:cNvSpPr txBox="1"/>
          <p:nvPr/>
        </p:nvSpPr>
        <p:spPr>
          <a:xfrm>
            <a:off x="797523" y="4277231"/>
            <a:ext cx="6886575" cy="542925"/>
          </a:xfrm>
          <a:prstGeom prst="rect">
            <a:avLst/>
          </a:prstGeom>
        </p:spPr>
        <p:txBody>
          <a:bodyPr lIns="0" tIns="0" rIns="0" bIns="0" rtlCol="0" anchor="t">
            <a:spAutoFit/>
          </a:bodyPr>
          <a:lstStyle/>
          <a:p>
            <a:pPr marL="0" lvl="0" indent="0" algn="l">
              <a:lnSpc>
                <a:spcPts val="4199"/>
              </a:lnSpc>
            </a:pPr>
            <a:r>
              <a:rPr lang="en-US" sz="2999" b="1" spc="-44">
                <a:solidFill>
                  <a:srgbClr val="E1B382"/>
                </a:solidFill>
                <a:latin typeface="Helvetica World Bold"/>
                <a:ea typeface="Helvetica World Bold"/>
                <a:cs typeface="Helvetica World Bold"/>
                <a:sym typeface="Helvetica World Bold"/>
              </a:rPr>
              <a:t>Cyber Challenges</a:t>
            </a:r>
          </a:p>
        </p:txBody>
      </p:sp>
      <p:sp>
        <p:nvSpPr>
          <p:cNvPr id="13" name="TextBox 13"/>
          <p:cNvSpPr txBox="1"/>
          <p:nvPr/>
        </p:nvSpPr>
        <p:spPr>
          <a:xfrm>
            <a:off x="797523" y="6548025"/>
            <a:ext cx="6886575" cy="542925"/>
          </a:xfrm>
          <a:prstGeom prst="rect">
            <a:avLst/>
          </a:prstGeom>
        </p:spPr>
        <p:txBody>
          <a:bodyPr lIns="0" tIns="0" rIns="0" bIns="0" rtlCol="0" anchor="t">
            <a:spAutoFit/>
          </a:bodyPr>
          <a:lstStyle/>
          <a:p>
            <a:pPr marL="0" lvl="0" indent="0" algn="l">
              <a:lnSpc>
                <a:spcPts val="4199"/>
              </a:lnSpc>
            </a:pPr>
            <a:r>
              <a:rPr lang="en-US" sz="2999" b="1" spc="-44">
                <a:solidFill>
                  <a:srgbClr val="E1B382"/>
                </a:solidFill>
                <a:latin typeface="Helvetica World Bold"/>
                <a:ea typeface="Helvetica World Bold"/>
                <a:cs typeface="Helvetica World Bold"/>
                <a:sym typeface="Helvetica World Bold"/>
              </a:rPr>
              <a:t>Our Response</a:t>
            </a:r>
          </a:p>
        </p:txBody>
      </p:sp>
      <p:sp>
        <p:nvSpPr>
          <p:cNvPr id="14" name="TextBox 14"/>
          <p:cNvSpPr txBox="1"/>
          <p:nvPr/>
        </p:nvSpPr>
        <p:spPr>
          <a:xfrm>
            <a:off x="838200" y="2877902"/>
            <a:ext cx="7834259" cy="815340"/>
          </a:xfrm>
          <a:prstGeom prst="rect">
            <a:avLst/>
          </a:prstGeom>
        </p:spPr>
        <p:txBody>
          <a:bodyPr lIns="0" tIns="0" rIns="0" bIns="0" rtlCol="0" anchor="t">
            <a:spAutoFit/>
          </a:bodyPr>
          <a:lstStyle/>
          <a:p>
            <a:pPr algn="l">
              <a:lnSpc>
                <a:spcPts val="3359"/>
              </a:lnSpc>
              <a:spcBef>
                <a:spcPct val="0"/>
              </a:spcBef>
            </a:pPr>
            <a:r>
              <a:rPr lang="en-US" sz="2399" dirty="0">
                <a:solidFill>
                  <a:srgbClr val="FFFFFF"/>
                </a:solidFill>
                <a:latin typeface="Helvetica World"/>
                <a:ea typeface="Helvetica World"/>
                <a:cs typeface="Helvetica World"/>
                <a:sym typeface="Helvetica World"/>
              </a:rPr>
              <a:t>Increased complexity due to distributed energy resources challenges real-time supply-demand balance..</a:t>
            </a:r>
          </a:p>
        </p:txBody>
      </p:sp>
      <p:sp>
        <p:nvSpPr>
          <p:cNvPr id="15" name="TextBox 15"/>
          <p:cNvSpPr txBox="1"/>
          <p:nvPr/>
        </p:nvSpPr>
        <p:spPr>
          <a:xfrm>
            <a:off x="797523" y="4926330"/>
            <a:ext cx="6886575" cy="815340"/>
          </a:xfrm>
          <a:prstGeom prst="rect">
            <a:avLst/>
          </a:prstGeom>
        </p:spPr>
        <p:txBody>
          <a:bodyPr lIns="0" tIns="0" rIns="0" bIns="0" rtlCol="0" anchor="t">
            <a:spAutoFit/>
          </a:bodyPr>
          <a:lstStyle/>
          <a:p>
            <a:pPr algn="l">
              <a:lnSpc>
                <a:spcPts val="3359"/>
              </a:lnSpc>
              <a:spcBef>
                <a:spcPct val="0"/>
              </a:spcBef>
            </a:pPr>
            <a:r>
              <a:rPr lang="en-US" sz="2399">
                <a:solidFill>
                  <a:srgbClr val="FFFFFF"/>
                </a:solidFill>
                <a:latin typeface="Helvetica World"/>
                <a:ea typeface="Helvetica World"/>
                <a:cs typeface="Helvetica World"/>
                <a:sym typeface="Helvetica World"/>
              </a:rPr>
              <a:t>Smart grid montoring introduces privacy &amp; cyberseurity risks.</a:t>
            </a:r>
          </a:p>
        </p:txBody>
      </p:sp>
      <p:sp>
        <p:nvSpPr>
          <p:cNvPr id="16" name="TextBox 16"/>
          <p:cNvSpPr txBox="1"/>
          <p:nvPr/>
        </p:nvSpPr>
        <p:spPr>
          <a:xfrm>
            <a:off x="797523" y="7195726"/>
            <a:ext cx="6886575" cy="2072640"/>
          </a:xfrm>
          <a:prstGeom prst="rect">
            <a:avLst/>
          </a:prstGeom>
        </p:spPr>
        <p:txBody>
          <a:bodyPr lIns="0" tIns="0" rIns="0" bIns="0" rtlCol="0" anchor="t">
            <a:spAutoFit/>
          </a:bodyPr>
          <a:lstStyle/>
          <a:p>
            <a:pPr algn="l">
              <a:lnSpc>
                <a:spcPts val="3359"/>
              </a:lnSpc>
              <a:spcBef>
                <a:spcPct val="0"/>
              </a:spcBef>
            </a:pPr>
            <a:r>
              <a:rPr lang="en-US" sz="2399">
                <a:solidFill>
                  <a:srgbClr val="FFFFFF"/>
                </a:solidFill>
                <a:latin typeface="Helvetica World"/>
                <a:ea typeface="Helvetica World"/>
                <a:cs typeface="Helvetica World"/>
                <a:sym typeface="Helvetica World"/>
              </a:rPr>
              <a:t>We will address these challenges by demonstrating an AI-assisted virtual power plant that operates on aggregated time-seris data rither than individual household profiles. We will also use privacy-perserving validation mechanisms.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2935"/>
        </a:solidFill>
        <a:effectLst/>
      </p:bgPr>
    </p:bg>
    <p:spTree>
      <p:nvGrpSpPr>
        <p:cNvPr id="1" name=""/>
        <p:cNvGrpSpPr/>
        <p:nvPr/>
      </p:nvGrpSpPr>
      <p:grpSpPr>
        <a:xfrm>
          <a:off x="0" y="0"/>
          <a:ext cx="0" cy="0"/>
          <a:chOff x="0" y="0"/>
          <a:chExt cx="0" cy="0"/>
        </a:xfrm>
      </p:grpSpPr>
      <p:grpSp>
        <p:nvGrpSpPr>
          <p:cNvPr id="2" name="Group 2"/>
          <p:cNvGrpSpPr/>
          <p:nvPr/>
        </p:nvGrpSpPr>
        <p:grpSpPr>
          <a:xfrm>
            <a:off x="9296400" y="0"/>
            <a:ext cx="8991600" cy="3352800"/>
            <a:chOff x="0" y="0"/>
            <a:chExt cx="2368158" cy="883042"/>
          </a:xfrm>
        </p:grpSpPr>
        <p:sp>
          <p:nvSpPr>
            <p:cNvPr id="3" name="Freeform 3"/>
            <p:cNvSpPr/>
            <p:nvPr/>
          </p:nvSpPr>
          <p:spPr>
            <a:xfrm>
              <a:off x="0" y="0"/>
              <a:ext cx="2368158" cy="883042"/>
            </a:xfrm>
            <a:custGeom>
              <a:avLst/>
              <a:gdLst/>
              <a:ahLst/>
              <a:cxnLst/>
              <a:rect l="l" t="t" r="r" b="b"/>
              <a:pathLst>
                <a:path w="2368158" h="883042">
                  <a:moveTo>
                    <a:pt x="0" y="0"/>
                  </a:moveTo>
                  <a:lnTo>
                    <a:pt x="2368158" y="0"/>
                  </a:lnTo>
                  <a:lnTo>
                    <a:pt x="2368158" y="883042"/>
                  </a:lnTo>
                  <a:lnTo>
                    <a:pt x="0" y="883042"/>
                  </a:lnTo>
                  <a:close/>
                </a:path>
              </a:pathLst>
            </a:custGeom>
            <a:solidFill>
              <a:srgbClr val="1A2935"/>
            </a:solidFill>
          </p:spPr>
        </p:sp>
        <p:sp>
          <p:nvSpPr>
            <p:cNvPr id="4" name="TextBox 4"/>
            <p:cNvSpPr txBox="1"/>
            <p:nvPr/>
          </p:nvSpPr>
          <p:spPr>
            <a:xfrm>
              <a:off x="0" y="-38100"/>
              <a:ext cx="2368158" cy="921142"/>
            </a:xfrm>
            <a:prstGeom prst="rect">
              <a:avLst/>
            </a:prstGeom>
          </p:spPr>
          <p:txBody>
            <a:bodyPr lIns="50800" tIns="50800" rIns="50800" bIns="50800" rtlCol="0" anchor="ctr"/>
            <a:lstStyle/>
            <a:p>
              <a:pPr algn="ctr">
                <a:lnSpc>
                  <a:spcPts val="2800"/>
                </a:lnSpc>
              </a:pPr>
              <a:endParaRPr/>
            </a:p>
          </p:txBody>
        </p:sp>
      </p:grpSp>
      <p:sp>
        <p:nvSpPr>
          <p:cNvPr id="5" name="TextBox 5"/>
          <p:cNvSpPr txBox="1"/>
          <p:nvPr/>
        </p:nvSpPr>
        <p:spPr>
          <a:xfrm>
            <a:off x="666750" y="790575"/>
            <a:ext cx="11028176" cy="1043308"/>
          </a:xfrm>
          <a:prstGeom prst="rect">
            <a:avLst/>
          </a:prstGeom>
        </p:spPr>
        <p:txBody>
          <a:bodyPr lIns="0" tIns="0" rIns="0" bIns="0" rtlCol="0" anchor="t">
            <a:spAutoFit/>
          </a:bodyPr>
          <a:lstStyle/>
          <a:p>
            <a:pPr marL="0" lvl="0" indent="0" algn="l">
              <a:lnSpc>
                <a:spcPts val="7700"/>
              </a:lnSpc>
              <a:spcBef>
                <a:spcPct val="0"/>
              </a:spcBef>
            </a:pPr>
            <a:r>
              <a:rPr lang="en-US" sz="7700" u="none" strike="noStrike">
                <a:solidFill>
                  <a:srgbClr val="4FB6E1"/>
                </a:solidFill>
                <a:latin typeface="Georgia Pro Condensed"/>
                <a:ea typeface="Georgia Pro Condensed"/>
                <a:cs typeface="Georgia Pro Condensed"/>
                <a:sym typeface="Georgia Pro Condensed"/>
              </a:rPr>
              <a:t>Approach and Methodology </a:t>
            </a:r>
          </a:p>
        </p:txBody>
      </p:sp>
      <p:sp>
        <p:nvSpPr>
          <p:cNvPr id="6" name="TextBox 6"/>
          <p:cNvSpPr txBox="1"/>
          <p:nvPr/>
        </p:nvSpPr>
        <p:spPr>
          <a:xfrm>
            <a:off x="666750" y="3052115"/>
            <a:ext cx="8854596" cy="654050"/>
          </a:xfrm>
          <a:prstGeom prst="rect">
            <a:avLst/>
          </a:prstGeom>
        </p:spPr>
        <p:txBody>
          <a:bodyPr lIns="0" tIns="0" rIns="0" bIns="0" rtlCol="0" anchor="t">
            <a:spAutoFit/>
          </a:bodyPr>
          <a:lstStyle/>
          <a:p>
            <a:pPr marL="0" lvl="0" indent="0" algn="l">
              <a:lnSpc>
                <a:spcPts val="4900"/>
              </a:lnSpc>
            </a:pPr>
            <a:r>
              <a:rPr lang="en-US" sz="3500" b="1" spc="-52">
                <a:solidFill>
                  <a:srgbClr val="E1B382"/>
                </a:solidFill>
                <a:latin typeface="Helvetica World Bold"/>
                <a:ea typeface="Helvetica World Bold"/>
                <a:cs typeface="Helvetica World Bold"/>
                <a:sym typeface="Helvetica World Bold"/>
              </a:rPr>
              <a:t>Modular Design - Agile Development</a:t>
            </a:r>
          </a:p>
        </p:txBody>
      </p:sp>
      <p:grpSp>
        <p:nvGrpSpPr>
          <p:cNvPr id="7" name="Group 7"/>
          <p:cNvGrpSpPr/>
          <p:nvPr/>
        </p:nvGrpSpPr>
        <p:grpSpPr>
          <a:xfrm>
            <a:off x="11694926" y="1"/>
            <a:ext cx="6593074" cy="10286999"/>
            <a:chOff x="-125958" y="31334"/>
            <a:chExt cx="507446" cy="791755"/>
          </a:xfrm>
        </p:grpSpPr>
        <p:sp>
          <p:nvSpPr>
            <p:cNvPr id="8" name="Freeform 8"/>
            <p:cNvSpPr/>
            <p:nvPr/>
          </p:nvSpPr>
          <p:spPr>
            <a:xfrm>
              <a:off x="-125958" y="31334"/>
              <a:ext cx="507446" cy="791755"/>
            </a:xfrm>
            <a:custGeom>
              <a:avLst/>
              <a:gdLst/>
              <a:ahLst/>
              <a:cxnLst/>
              <a:rect l="l" t="t" r="r" b="b"/>
              <a:pathLst>
                <a:path w="507446" h="823089">
                  <a:moveTo>
                    <a:pt x="23485" y="0"/>
                  </a:moveTo>
                  <a:lnTo>
                    <a:pt x="483961" y="0"/>
                  </a:lnTo>
                  <a:cubicBezTo>
                    <a:pt x="490190" y="0"/>
                    <a:pt x="496163" y="2474"/>
                    <a:pt x="500568" y="6879"/>
                  </a:cubicBezTo>
                  <a:cubicBezTo>
                    <a:pt x="504972" y="11283"/>
                    <a:pt x="507446" y="17256"/>
                    <a:pt x="507446" y="23485"/>
                  </a:cubicBezTo>
                  <a:lnTo>
                    <a:pt x="507446" y="799604"/>
                  </a:lnTo>
                  <a:cubicBezTo>
                    <a:pt x="507446" y="805832"/>
                    <a:pt x="504972" y="811806"/>
                    <a:pt x="500568" y="816210"/>
                  </a:cubicBezTo>
                  <a:cubicBezTo>
                    <a:pt x="496163" y="820614"/>
                    <a:pt x="490190" y="823089"/>
                    <a:pt x="483961" y="823089"/>
                  </a:cubicBezTo>
                  <a:lnTo>
                    <a:pt x="23485" y="823089"/>
                  </a:lnTo>
                  <a:cubicBezTo>
                    <a:pt x="17256" y="823089"/>
                    <a:pt x="11283" y="820614"/>
                    <a:pt x="6879" y="816210"/>
                  </a:cubicBezTo>
                  <a:cubicBezTo>
                    <a:pt x="2474" y="811806"/>
                    <a:pt x="0" y="805832"/>
                    <a:pt x="0" y="799604"/>
                  </a:cubicBezTo>
                  <a:lnTo>
                    <a:pt x="0" y="23485"/>
                  </a:lnTo>
                  <a:cubicBezTo>
                    <a:pt x="0" y="17256"/>
                    <a:pt x="2474" y="11283"/>
                    <a:pt x="6879" y="6879"/>
                  </a:cubicBezTo>
                  <a:cubicBezTo>
                    <a:pt x="11283" y="2474"/>
                    <a:pt x="17256" y="0"/>
                    <a:pt x="23485" y="0"/>
                  </a:cubicBezTo>
                  <a:close/>
                </a:path>
              </a:pathLst>
            </a:custGeom>
            <a:blipFill>
              <a:blip r:embed="rId2"/>
              <a:stretch>
                <a:fillRect l="-20051" t="-2210" r="-20051" b="-1748"/>
              </a:stretch>
            </a:blipFill>
          </p:spPr>
        </p:sp>
      </p:grpSp>
      <p:sp>
        <p:nvSpPr>
          <p:cNvPr id="9" name="TextBox 9"/>
          <p:cNvSpPr txBox="1"/>
          <p:nvPr/>
        </p:nvSpPr>
        <p:spPr>
          <a:xfrm>
            <a:off x="666750" y="2096439"/>
            <a:ext cx="6886575" cy="869950"/>
          </a:xfrm>
          <a:prstGeom prst="rect">
            <a:avLst/>
          </a:prstGeom>
        </p:spPr>
        <p:txBody>
          <a:bodyPr lIns="0" tIns="0" rIns="0" bIns="0" rtlCol="0" anchor="t">
            <a:spAutoFit/>
          </a:bodyPr>
          <a:lstStyle/>
          <a:p>
            <a:pPr marL="0" lvl="0" indent="0" algn="l">
              <a:lnSpc>
                <a:spcPts val="6500"/>
              </a:lnSpc>
              <a:spcBef>
                <a:spcPct val="0"/>
              </a:spcBef>
            </a:pPr>
            <a:r>
              <a:rPr lang="en-US" sz="6500">
                <a:solidFill>
                  <a:srgbClr val="FFFFFF"/>
                </a:solidFill>
                <a:latin typeface="Georgia Pro Condensed"/>
                <a:ea typeface="Georgia Pro Condensed"/>
                <a:cs typeface="Georgia Pro Condensed"/>
                <a:sym typeface="Georgia Pro Condensed"/>
              </a:rPr>
              <a:t>System Architecture</a:t>
            </a:r>
          </a:p>
        </p:txBody>
      </p:sp>
      <p:sp>
        <p:nvSpPr>
          <p:cNvPr id="10" name="TextBox 10"/>
          <p:cNvSpPr txBox="1"/>
          <p:nvPr/>
        </p:nvSpPr>
        <p:spPr>
          <a:xfrm>
            <a:off x="666750" y="3824287"/>
            <a:ext cx="6886575" cy="2590800"/>
          </a:xfrm>
          <a:prstGeom prst="rect">
            <a:avLst/>
          </a:prstGeom>
        </p:spPr>
        <p:txBody>
          <a:bodyPr lIns="0" tIns="0" rIns="0" bIns="0" rtlCol="0" anchor="t">
            <a:spAutoFit/>
          </a:bodyPr>
          <a:lstStyle/>
          <a:p>
            <a:pPr marL="647697" lvl="1" indent="-323848" algn="l">
              <a:lnSpc>
                <a:spcPts val="4199"/>
              </a:lnSpc>
              <a:buFont typeface="Arial"/>
              <a:buChar char="•"/>
            </a:pPr>
            <a:r>
              <a:rPr lang="en-US" sz="2999" spc="-44">
                <a:solidFill>
                  <a:srgbClr val="FFFFFF"/>
                </a:solidFill>
                <a:latin typeface="Helvetica World"/>
                <a:ea typeface="Helvetica World"/>
                <a:cs typeface="Helvetica World"/>
                <a:sym typeface="Helvetica World"/>
              </a:rPr>
              <a:t>Data Ingestion</a:t>
            </a:r>
          </a:p>
          <a:p>
            <a:pPr marL="647697" lvl="1" indent="-323848" algn="l">
              <a:lnSpc>
                <a:spcPts val="4199"/>
              </a:lnSpc>
              <a:buFont typeface="Arial"/>
              <a:buChar char="•"/>
            </a:pPr>
            <a:r>
              <a:rPr lang="en-US" sz="2999" spc="-44">
                <a:solidFill>
                  <a:srgbClr val="FFFFFF"/>
                </a:solidFill>
                <a:latin typeface="Helvetica World"/>
                <a:ea typeface="Helvetica World"/>
                <a:cs typeface="Helvetica World"/>
                <a:sym typeface="Helvetica World"/>
              </a:rPr>
              <a:t>Signal Processing</a:t>
            </a:r>
          </a:p>
          <a:p>
            <a:pPr marL="647697" lvl="1" indent="-323848" algn="l">
              <a:lnSpc>
                <a:spcPts val="4199"/>
              </a:lnSpc>
              <a:buFont typeface="Arial"/>
              <a:buChar char="•"/>
            </a:pPr>
            <a:r>
              <a:rPr lang="en-US" sz="2999" spc="-44">
                <a:solidFill>
                  <a:srgbClr val="FFFFFF"/>
                </a:solidFill>
                <a:latin typeface="Helvetica World"/>
                <a:ea typeface="Helvetica World"/>
                <a:cs typeface="Helvetica World"/>
                <a:sym typeface="Helvetica World"/>
              </a:rPr>
              <a:t>AI Decision Engine</a:t>
            </a:r>
          </a:p>
          <a:p>
            <a:pPr marL="647697" lvl="1" indent="-323848" algn="l">
              <a:lnSpc>
                <a:spcPts val="4199"/>
              </a:lnSpc>
              <a:buFont typeface="Arial"/>
              <a:buChar char="•"/>
            </a:pPr>
            <a:r>
              <a:rPr lang="en-US" sz="2999" spc="-44">
                <a:solidFill>
                  <a:srgbClr val="FFFFFF"/>
                </a:solidFill>
                <a:latin typeface="Helvetica World"/>
                <a:ea typeface="Helvetica World"/>
                <a:cs typeface="Helvetica World"/>
                <a:sym typeface="Helvetica World"/>
              </a:rPr>
              <a:t>Cyber Validation Layer</a:t>
            </a:r>
          </a:p>
          <a:p>
            <a:pPr marL="647697" lvl="1" indent="-323848" algn="l">
              <a:lnSpc>
                <a:spcPts val="4199"/>
              </a:lnSpc>
              <a:buFont typeface="Arial"/>
              <a:buChar char="•"/>
            </a:pPr>
            <a:r>
              <a:rPr lang="en-US" sz="2999" spc="-44">
                <a:solidFill>
                  <a:srgbClr val="FFFFFF"/>
                </a:solidFill>
                <a:latin typeface="Helvetica World"/>
                <a:ea typeface="Helvetica World"/>
                <a:cs typeface="Helvetica World"/>
                <a:sym typeface="Helvetica World"/>
              </a:rPr>
              <a:t>Visualization Dahboarrd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2935"/>
        </a:solidFill>
        <a:effectLst/>
      </p:bgPr>
    </p:bg>
    <p:spTree>
      <p:nvGrpSpPr>
        <p:cNvPr id="1" name=""/>
        <p:cNvGrpSpPr/>
        <p:nvPr/>
      </p:nvGrpSpPr>
      <p:grpSpPr>
        <a:xfrm>
          <a:off x="0" y="0"/>
          <a:ext cx="0" cy="0"/>
          <a:chOff x="0" y="0"/>
          <a:chExt cx="0" cy="0"/>
        </a:xfrm>
      </p:grpSpPr>
      <p:sp>
        <p:nvSpPr>
          <p:cNvPr id="3" name="Freeform 3"/>
          <p:cNvSpPr/>
          <p:nvPr/>
        </p:nvSpPr>
        <p:spPr>
          <a:xfrm>
            <a:off x="9296400" y="0"/>
            <a:ext cx="8991600" cy="3352800"/>
          </a:xfrm>
          <a:custGeom>
            <a:avLst/>
            <a:gdLst/>
            <a:ahLst/>
            <a:cxnLst/>
            <a:rect l="l" t="t" r="r" b="b"/>
            <a:pathLst>
              <a:path w="2368158" h="883042">
                <a:moveTo>
                  <a:pt x="0" y="0"/>
                </a:moveTo>
                <a:lnTo>
                  <a:pt x="2368158" y="0"/>
                </a:lnTo>
                <a:lnTo>
                  <a:pt x="2368158" y="883042"/>
                </a:lnTo>
                <a:lnTo>
                  <a:pt x="0" y="883042"/>
                </a:lnTo>
                <a:close/>
              </a:path>
            </a:pathLst>
          </a:custGeom>
          <a:solidFill>
            <a:srgbClr val="1A2935"/>
          </a:solidFill>
        </p:spPr>
      </p:sp>
      <p:sp>
        <p:nvSpPr>
          <p:cNvPr id="5" name="TextBox 5"/>
          <p:cNvSpPr txBox="1"/>
          <p:nvPr/>
        </p:nvSpPr>
        <p:spPr>
          <a:xfrm>
            <a:off x="666750" y="790575"/>
            <a:ext cx="11028176" cy="1043308"/>
          </a:xfrm>
          <a:prstGeom prst="rect">
            <a:avLst/>
          </a:prstGeom>
        </p:spPr>
        <p:txBody>
          <a:bodyPr lIns="0" tIns="0" rIns="0" bIns="0" rtlCol="0" anchor="t">
            <a:spAutoFit/>
          </a:bodyPr>
          <a:lstStyle/>
          <a:p>
            <a:pPr marL="0" lvl="0" indent="0" algn="l">
              <a:lnSpc>
                <a:spcPts val="7700"/>
              </a:lnSpc>
              <a:spcBef>
                <a:spcPct val="0"/>
              </a:spcBef>
            </a:pPr>
            <a:r>
              <a:rPr lang="en-US" sz="7700" u="none" strike="noStrike">
                <a:solidFill>
                  <a:srgbClr val="4FB6E1"/>
                </a:solidFill>
                <a:latin typeface="Georgia Pro Condensed"/>
                <a:ea typeface="Georgia Pro Condensed"/>
                <a:cs typeface="Georgia Pro Condensed"/>
                <a:sym typeface="Georgia Pro Condensed"/>
              </a:rPr>
              <a:t>Approach and Methodology </a:t>
            </a:r>
          </a:p>
        </p:txBody>
      </p:sp>
      <p:sp>
        <p:nvSpPr>
          <p:cNvPr id="6" name="TextBox 6"/>
          <p:cNvSpPr txBox="1"/>
          <p:nvPr/>
        </p:nvSpPr>
        <p:spPr>
          <a:xfrm>
            <a:off x="666750" y="2096439"/>
            <a:ext cx="11028176" cy="869950"/>
          </a:xfrm>
          <a:prstGeom prst="rect">
            <a:avLst/>
          </a:prstGeom>
        </p:spPr>
        <p:txBody>
          <a:bodyPr lIns="0" tIns="0" rIns="0" bIns="0" rtlCol="0" anchor="t">
            <a:spAutoFit/>
          </a:bodyPr>
          <a:lstStyle/>
          <a:p>
            <a:pPr marL="0" lvl="0" indent="0" algn="l">
              <a:lnSpc>
                <a:spcPts val="6500"/>
              </a:lnSpc>
              <a:spcBef>
                <a:spcPct val="0"/>
              </a:spcBef>
            </a:pPr>
            <a:r>
              <a:rPr lang="en-US" sz="6500">
                <a:solidFill>
                  <a:srgbClr val="FFFFFF"/>
                </a:solidFill>
                <a:latin typeface="Georgia Pro Condensed"/>
                <a:ea typeface="Georgia Pro Condensed"/>
                <a:cs typeface="Georgia Pro Condensed"/>
                <a:sym typeface="Georgia Pro Condensed"/>
              </a:rPr>
              <a:t>Team Roles &amp; Responsibilities</a:t>
            </a:r>
          </a:p>
        </p:txBody>
      </p:sp>
      <p:grpSp>
        <p:nvGrpSpPr>
          <p:cNvPr id="7" name="Group 7"/>
          <p:cNvGrpSpPr/>
          <p:nvPr/>
        </p:nvGrpSpPr>
        <p:grpSpPr>
          <a:xfrm>
            <a:off x="698068" y="3822846"/>
            <a:ext cx="3858850" cy="4479890"/>
            <a:chOff x="0" y="-66675"/>
            <a:chExt cx="5145133" cy="5973187"/>
          </a:xfrm>
        </p:grpSpPr>
        <p:sp>
          <p:nvSpPr>
            <p:cNvPr id="8" name="TextBox 8"/>
            <p:cNvSpPr txBox="1"/>
            <p:nvPr/>
          </p:nvSpPr>
          <p:spPr>
            <a:xfrm>
              <a:off x="0" y="-66675"/>
              <a:ext cx="5145133" cy="849842"/>
            </a:xfrm>
            <a:prstGeom prst="rect">
              <a:avLst/>
            </a:prstGeom>
          </p:spPr>
          <p:txBody>
            <a:bodyPr lIns="0" tIns="0" rIns="0" bIns="0" rtlCol="0" anchor="t">
              <a:spAutoFit/>
            </a:bodyPr>
            <a:lstStyle/>
            <a:p>
              <a:pPr marL="0" lvl="0" indent="0" algn="l">
                <a:lnSpc>
                  <a:spcPts val="4900"/>
                </a:lnSpc>
              </a:pPr>
              <a:r>
                <a:rPr lang="en-US" sz="3500" b="1" spc="-52">
                  <a:solidFill>
                    <a:srgbClr val="E1B382"/>
                  </a:solidFill>
                  <a:latin typeface="Helvetica World Bold"/>
                  <a:ea typeface="Helvetica World Bold"/>
                  <a:cs typeface="Helvetica World Bold"/>
                  <a:sym typeface="Helvetica World Bold"/>
                </a:rPr>
                <a:t>Samuel Howard</a:t>
              </a:r>
            </a:p>
          </p:txBody>
        </p:sp>
        <p:sp>
          <p:nvSpPr>
            <p:cNvPr id="9" name="TextBox 9"/>
            <p:cNvSpPr txBox="1"/>
            <p:nvPr/>
          </p:nvSpPr>
          <p:spPr>
            <a:xfrm>
              <a:off x="0" y="938741"/>
              <a:ext cx="4741860" cy="4967771"/>
            </a:xfrm>
            <a:prstGeom prst="rect">
              <a:avLst/>
            </a:prstGeom>
          </p:spPr>
          <p:txBody>
            <a:bodyPr wrap="square" lIns="0" tIns="0" rIns="0" bIns="0" rtlCol="0" anchor="t">
              <a:spAutoFit/>
            </a:bodyPr>
            <a:lstStyle/>
            <a:p>
              <a:pPr algn="l">
                <a:lnSpc>
                  <a:spcPts val="4199"/>
                </a:lnSpc>
              </a:pPr>
              <a:r>
                <a:rPr lang="en-US" sz="2800" spc="-44" dirty="0">
                  <a:solidFill>
                    <a:srgbClr val="FFFFFF"/>
                  </a:solidFill>
                  <a:latin typeface="Helvetica World"/>
                  <a:ea typeface="Helvetica World"/>
                  <a:cs typeface="Helvetica World"/>
                  <a:sym typeface="Helvetica World"/>
                </a:rPr>
                <a:t>Lead AI &amp; Cyber development, including decision logic design, demand analysis, threshold-based action modeling, and cyber security modeling</a:t>
              </a:r>
            </a:p>
          </p:txBody>
        </p:sp>
      </p:grpSp>
      <p:grpSp>
        <p:nvGrpSpPr>
          <p:cNvPr id="10" name="Group 10"/>
          <p:cNvGrpSpPr/>
          <p:nvPr/>
        </p:nvGrpSpPr>
        <p:grpSpPr>
          <a:xfrm>
            <a:off x="5069161" y="3817435"/>
            <a:ext cx="3858850" cy="4486302"/>
            <a:chOff x="0" y="-66675"/>
            <a:chExt cx="5145133" cy="5981736"/>
          </a:xfrm>
        </p:grpSpPr>
        <p:sp>
          <p:nvSpPr>
            <p:cNvPr id="11" name="TextBox 11"/>
            <p:cNvSpPr txBox="1"/>
            <p:nvPr/>
          </p:nvSpPr>
          <p:spPr>
            <a:xfrm>
              <a:off x="0" y="-66675"/>
              <a:ext cx="5145133" cy="849842"/>
            </a:xfrm>
            <a:prstGeom prst="rect">
              <a:avLst/>
            </a:prstGeom>
          </p:spPr>
          <p:txBody>
            <a:bodyPr lIns="0" tIns="0" rIns="0" bIns="0" rtlCol="0" anchor="t">
              <a:spAutoFit/>
            </a:bodyPr>
            <a:lstStyle/>
            <a:p>
              <a:pPr marL="0" lvl="0" indent="0" algn="l">
                <a:lnSpc>
                  <a:spcPts val="4900"/>
                </a:lnSpc>
              </a:pPr>
              <a:r>
                <a:rPr lang="en-US" sz="3500" b="1" spc="-52">
                  <a:solidFill>
                    <a:srgbClr val="E1B382"/>
                  </a:solidFill>
                  <a:latin typeface="Helvetica World Bold"/>
                  <a:ea typeface="Helvetica World Bold"/>
                  <a:cs typeface="Helvetica World Bold"/>
                  <a:sym typeface="Helvetica World Bold"/>
                </a:rPr>
                <a:t>Cameron Johnson</a:t>
              </a:r>
            </a:p>
          </p:txBody>
        </p:sp>
        <p:sp>
          <p:nvSpPr>
            <p:cNvPr id="12" name="TextBox 12"/>
            <p:cNvSpPr txBox="1"/>
            <p:nvPr/>
          </p:nvSpPr>
          <p:spPr>
            <a:xfrm>
              <a:off x="1" y="938741"/>
              <a:ext cx="4741859" cy="4976320"/>
            </a:xfrm>
            <a:prstGeom prst="rect">
              <a:avLst/>
            </a:prstGeom>
          </p:spPr>
          <p:txBody>
            <a:bodyPr wrap="square" lIns="0" tIns="0" rIns="0" bIns="0" rtlCol="0" anchor="t">
              <a:spAutoFit/>
            </a:bodyPr>
            <a:lstStyle/>
            <a:p>
              <a:pPr algn="l">
                <a:lnSpc>
                  <a:spcPts val="4199"/>
                </a:lnSpc>
              </a:pPr>
              <a:r>
                <a:rPr lang="en-US" sz="2800" spc="-44" dirty="0">
                  <a:solidFill>
                    <a:srgbClr val="FFFFFF"/>
                  </a:solidFill>
                  <a:latin typeface="Helvetica World"/>
                  <a:ea typeface="Helvetica World"/>
                  <a:cs typeface="Helvetica World"/>
                  <a:sym typeface="Helvetica World"/>
                </a:rPr>
                <a:t>Lead Energy data procurement and preprocessing, data analysis, signal processing, and evaluation of system-level energy impacts.</a:t>
              </a:r>
            </a:p>
          </p:txBody>
        </p:sp>
      </p:grpSp>
      <p:grpSp>
        <p:nvGrpSpPr>
          <p:cNvPr id="13" name="Group 13"/>
          <p:cNvGrpSpPr/>
          <p:nvPr/>
        </p:nvGrpSpPr>
        <p:grpSpPr>
          <a:xfrm>
            <a:off x="14027659" y="3820859"/>
            <a:ext cx="3858850" cy="3941281"/>
            <a:chOff x="0" y="-66675"/>
            <a:chExt cx="5145133" cy="5255042"/>
          </a:xfrm>
        </p:grpSpPr>
        <p:sp>
          <p:nvSpPr>
            <p:cNvPr id="14" name="TextBox 14"/>
            <p:cNvSpPr txBox="1"/>
            <p:nvPr/>
          </p:nvSpPr>
          <p:spPr>
            <a:xfrm>
              <a:off x="0" y="-66675"/>
              <a:ext cx="5145133" cy="849842"/>
            </a:xfrm>
            <a:prstGeom prst="rect">
              <a:avLst/>
            </a:prstGeom>
          </p:spPr>
          <p:txBody>
            <a:bodyPr lIns="0" tIns="0" rIns="0" bIns="0" rtlCol="0" anchor="t">
              <a:spAutoFit/>
            </a:bodyPr>
            <a:lstStyle/>
            <a:p>
              <a:pPr marL="0" lvl="0" indent="0" algn="l">
                <a:lnSpc>
                  <a:spcPts val="4900"/>
                </a:lnSpc>
              </a:pPr>
              <a:r>
                <a:rPr lang="en-US" sz="3500" b="1" spc="-52">
                  <a:solidFill>
                    <a:srgbClr val="E1B382"/>
                  </a:solidFill>
                  <a:latin typeface="Helvetica World Bold"/>
                  <a:ea typeface="Helvetica World Bold"/>
                  <a:cs typeface="Helvetica World Bold"/>
                  <a:sym typeface="Helvetica World Bold"/>
                </a:rPr>
                <a:t>Blaine Swieder</a:t>
              </a:r>
            </a:p>
          </p:txBody>
        </p:sp>
        <p:sp>
          <p:nvSpPr>
            <p:cNvPr id="15" name="TextBox 15"/>
            <p:cNvSpPr txBox="1"/>
            <p:nvPr/>
          </p:nvSpPr>
          <p:spPr>
            <a:xfrm>
              <a:off x="1" y="938741"/>
              <a:ext cx="5105400" cy="4249626"/>
            </a:xfrm>
            <a:prstGeom prst="rect">
              <a:avLst/>
            </a:prstGeom>
          </p:spPr>
          <p:txBody>
            <a:bodyPr wrap="square" lIns="0" tIns="0" rIns="0" bIns="0" rtlCol="0" anchor="t">
              <a:spAutoFit/>
            </a:bodyPr>
            <a:lstStyle/>
            <a:p>
              <a:pPr algn="l">
                <a:lnSpc>
                  <a:spcPts val="4199"/>
                </a:lnSpc>
              </a:pPr>
              <a:r>
                <a:rPr lang="en-US" sz="2800" spc="-44" dirty="0">
                  <a:solidFill>
                    <a:srgbClr val="FFFFFF"/>
                  </a:solidFill>
                  <a:latin typeface="Helvetica World"/>
                  <a:ea typeface="Helvetica World"/>
                  <a:cs typeface="Helvetica World"/>
                  <a:sym typeface="Helvetica World"/>
                </a:rPr>
                <a:t>Lead System Integration and architectural coordination and ensuring interaction across AI, Cyber, and Energy components.</a:t>
              </a:r>
            </a:p>
          </p:txBody>
        </p:sp>
      </p:grpSp>
      <p:grpSp>
        <p:nvGrpSpPr>
          <p:cNvPr id="16" name="Group 16"/>
          <p:cNvGrpSpPr/>
          <p:nvPr/>
        </p:nvGrpSpPr>
        <p:grpSpPr>
          <a:xfrm>
            <a:off x="9656565" y="3817435"/>
            <a:ext cx="3858851" cy="5557108"/>
            <a:chOff x="0" y="-66675"/>
            <a:chExt cx="5145135" cy="7409477"/>
          </a:xfrm>
        </p:grpSpPr>
        <p:sp>
          <p:nvSpPr>
            <p:cNvPr id="17" name="TextBox 17"/>
            <p:cNvSpPr txBox="1"/>
            <p:nvPr/>
          </p:nvSpPr>
          <p:spPr>
            <a:xfrm>
              <a:off x="0" y="-66675"/>
              <a:ext cx="5145133" cy="849842"/>
            </a:xfrm>
            <a:prstGeom prst="rect">
              <a:avLst/>
            </a:prstGeom>
          </p:spPr>
          <p:txBody>
            <a:bodyPr lIns="0" tIns="0" rIns="0" bIns="0" rtlCol="0" anchor="t">
              <a:spAutoFit/>
            </a:bodyPr>
            <a:lstStyle/>
            <a:p>
              <a:pPr marL="0" lvl="0" indent="0" algn="l">
                <a:lnSpc>
                  <a:spcPts val="4900"/>
                </a:lnSpc>
              </a:pPr>
              <a:r>
                <a:rPr lang="en-US" sz="3500" b="1" spc="-52" dirty="0">
                  <a:solidFill>
                    <a:srgbClr val="E1B382"/>
                  </a:solidFill>
                  <a:latin typeface="Helvetica World Bold"/>
                  <a:ea typeface="Helvetica World Bold"/>
                  <a:cs typeface="Helvetica World Bold"/>
                  <a:sym typeface="Helvetica World Bold"/>
                </a:rPr>
                <a:t>April Crockett</a:t>
              </a:r>
            </a:p>
          </p:txBody>
        </p:sp>
        <p:sp>
          <p:nvSpPr>
            <p:cNvPr id="18" name="TextBox 18"/>
            <p:cNvSpPr txBox="1"/>
            <p:nvPr/>
          </p:nvSpPr>
          <p:spPr>
            <a:xfrm>
              <a:off x="1" y="938741"/>
              <a:ext cx="5145134" cy="6404061"/>
            </a:xfrm>
            <a:prstGeom prst="rect">
              <a:avLst/>
            </a:prstGeom>
          </p:spPr>
          <p:txBody>
            <a:bodyPr wrap="square" lIns="0" tIns="0" rIns="0" bIns="0" rtlCol="0" anchor="t">
              <a:spAutoFit/>
            </a:bodyPr>
            <a:lstStyle/>
            <a:p>
              <a:pPr algn="l">
                <a:lnSpc>
                  <a:spcPts val="4199"/>
                </a:lnSpc>
              </a:pPr>
              <a:r>
                <a:rPr lang="en-US" sz="2800" spc="-44" dirty="0">
                  <a:solidFill>
                    <a:srgbClr val="FFFFFF"/>
                  </a:solidFill>
                  <a:latin typeface="Helvetica World"/>
                  <a:ea typeface="Helvetica World"/>
                  <a:cs typeface="Helvetica World"/>
                  <a:sym typeface="Helvetica World"/>
                </a:rPr>
                <a:t>Lead project docs, communication, and presentation materials, visualization design, creation of teaching materials for bootcamp. Serve a wildcard, aiding teammates where needed.</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2935"/>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4465383" cy="2358123"/>
          </a:xfrm>
        </p:grpSpPr>
        <p:sp>
          <p:nvSpPr>
            <p:cNvPr id="3" name="Freeform 3"/>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A0D8EF"/>
            </a:solidFill>
            <a:ln cap="rnd">
              <a:noFill/>
              <a:prstDash val="solid"/>
              <a:round/>
            </a:ln>
          </p:spPr>
        </p:sp>
        <p:sp>
          <p:nvSpPr>
            <p:cNvPr id="4" name="TextBox 4"/>
            <p:cNvSpPr txBox="1"/>
            <p:nvPr/>
          </p:nvSpPr>
          <p:spPr>
            <a:xfrm>
              <a:off x="0" y="-38100"/>
              <a:ext cx="4465383" cy="2396223"/>
            </a:xfrm>
            <a:prstGeom prst="rect">
              <a:avLst/>
            </a:prstGeom>
          </p:spPr>
          <p:txBody>
            <a:bodyPr lIns="50800" tIns="50800" rIns="50800" bIns="50800" rtlCol="0" anchor="ctr"/>
            <a:lstStyle/>
            <a:p>
              <a:pPr marL="0" lvl="0" indent="0" algn="ctr">
                <a:lnSpc>
                  <a:spcPts val="3359"/>
                </a:lnSpc>
                <a:spcBef>
                  <a:spcPct val="0"/>
                </a:spcBef>
              </a:pPr>
              <a:endParaRPr/>
            </a:p>
          </p:txBody>
        </p:sp>
      </p:grpSp>
      <p:sp>
        <p:nvSpPr>
          <p:cNvPr id="5" name="TextBox 5"/>
          <p:cNvSpPr txBox="1"/>
          <p:nvPr/>
        </p:nvSpPr>
        <p:spPr>
          <a:xfrm>
            <a:off x="1028700" y="786432"/>
            <a:ext cx="11028176" cy="1043308"/>
          </a:xfrm>
          <a:prstGeom prst="rect">
            <a:avLst/>
          </a:prstGeom>
        </p:spPr>
        <p:txBody>
          <a:bodyPr lIns="0" tIns="0" rIns="0" bIns="0" rtlCol="0" anchor="t">
            <a:spAutoFit/>
          </a:bodyPr>
          <a:lstStyle/>
          <a:p>
            <a:pPr marL="0" lvl="0" indent="0" algn="l">
              <a:lnSpc>
                <a:spcPts val="7700"/>
              </a:lnSpc>
              <a:spcBef>
                <a:spcPct val="0"/>
              </a:spcBef>
            </a:pPr>
            <a:r>
              <a:rPr lang="en-US" sz="7700">
                <a:solidFill>
                  <a:srgbClr val="072B53"/>
                </a:solidFill>
                <a:latin typeface="Georgia Pro Condensed"/>
                <a:ea typeface="Georgia Pro Condensed"/>
                <a:cs typeface="Georgia Pro Condensed"/>
                <a:sym typeface="Georgia Pro Condensed"/>
              </a:rPr>
              <a:t>Tasks &amp; Timeline</a:t>
            </a:r>
          </a:p>
        </p:txBody>
      </p:sp>
      <p:sp>
        <p:nvSpPr>
          <p:cNvPr id="6" name="TextBox 6"/>
          <p:cNvSpPr txBox="1"/>
          <p:nvPr/>
        </p:nvSpPr>
        <p:spPr>
          <a:xfrm>
            <a:off x="1028700" y="1978659"/>
            <a:ext cx="16230600" cy="6606540"/>
          </a:xfrm>
          <a:prstGeom prst="rect">
            <a:avLst/>
          </a:prstGeom>
        </p:spPr>
        <p:txBody>
          <a:bodyPr lIns="0" tIns="0" rIns="0" bIns="0" rtlCol="0" anchor="t">
            <a:spAutoFit/>
          </a:bodyPr>
          <a:lstStyle/>
          <a:p>
            <a:pPr marL="647700" lvl="1" indent="-323850" algn="l">
              <a:lnSpc>
                <a:spcPts val="5280"/>
              </a:lnSpc>
              <a:buFont typeface="Arial"/>
              <a:buChar char="•"/>
            </a:pPr>
            <a:r>
              <a:rPr lang="en-US" sz="3000">
                <a:solidFill>
                  <a:srgbClr val="072B53"/>
                </a:solidFill>
                <a:latin typeface="Helvetica World"/>
                <a:ea typeface="Helvetica World"/>
                <a:cs typeface="Helvetica World"/>
                <a:sym typeface="Helvetica World"/>
              </a:rPr>
              <a:t>Task 1: Project Proposal &amp; Timeline (timeline: 1 week)</a:t>
            </a:r>
          </a:p>
          <a:p>
            <a:pPr marL="647700" lvl="1" indent="-323850" algn="l">
              <a:lnSpc>
                <a:spcPts val="5280"/>
              </a:lnSpc>
              <a:buFont typeface="Arial"/>
              <a:buChar char="•"/>
            </a:pPr>
            <a:r>
              <a:rPr lang="en-US" sz="3000">
                <a:solidFill>
                  <a:srgbClr val="072B53"/>
                </a:solidFill>
                <a:latin typeface="Helvetica World"/>
                <a:ea typeface="Helvetica World"/>
                <a:cs typeface="Helvetica World"/>
                <a:sym typeface="Helvetica World"/>
              </a:rPr>
              <a:t>Task 2: Data Acquisition and Preprocessing (timeline: 2 weeks)</a:t>
            </a:r>
          </a:p>
          <a:p>
            <a:pPr marL="647700" lvl="1" indent="-323850" algn="l">
              <a:lnSpc>
                <a:spcPts val="5280"/>
              </a:lnSpc>
              <a:buFont typeface="Arial"/>
              <a:buChar char="•"/>
            </a:pPr>
            <a:r>
              <a:rPr lang="en-US" sz="3000">
                <a:solidFill>
                  <a:srgbClr val="072B53"/>
                </a:solidFill>
                <a:latin typeface="Helvetica World"/>
                <a:ea typeface="Helvetica World"/>
                <a:cs typeface="Helvetica World"/>
                <a:sym typeface="Helvetica World"/>
              </a:rPr>
              <a:t>Task 3: Energy Signal Processing Development (timeline: 1-3 weeks) </a:t>
            </a:r>
          </a:p>
          <a:p>
            <a:pPr marL="647700" lvl="1" indent="-323850" algn="l">
              <a:lnSpc>
                <a:spcPts val="5280"/>
              </a:lnSpc>
              <a:buFont typeface="Arial"/>
              <a:buChar char="•"/>
            </a:pPr>
            <a:r>
              <a:rPr lang="en-US" sz="3000">
                <a:solidFill>
                  <a:srgbClr val="072B53"/>
                </a:solidFill>
                <a:latin typeface="Helvetica World"/>
                <a:ea typeface="Helvetica World"/>
                <a:cs typeface="Helvetica World"/>
                <a:sym typeface="Helvetica World"/>
              </a:rPr>
              <a:t>Task 4: AI Decision Logic Implementation (timeline: 3 weeks)</a:t>
            </a:r>
          </a:p>
          <a:p>
            <a:pPr marL="647700" lvl="1" indent="-323850" algn="l">
              <a:lnSpc>
                <a:spcPts val="5280"/>
              </a:lnSpc>
              <a:buFont typeface="Arial"/>
              <a:buChar char="•"/>
            </a:pPr>
            <a:r>
              <a:rPr lang="en-US" sz="3000">
                <a:solidFill>
                  <a:srgbClr val="072B53"/>
                </a:solidFill>
                <a:latin typeface="Helvetica World"/>
                <a:ea typeface="Helvetica World"/>
                <a:cs typeface="Helvetica World"/>
                <a:sym typeface="Helvetica World"/>
              </a:rPr>
              <a:t>Task 5: Cybersecurity and Validation Modeling (timeline: 2 weeks)</a:t>
            </a:r>
          </a:p>
          <a:p>
            <a:pPr marL="647700" lvl="1" indent="-323850" algn="l">
              <a:lnSpc>
                <a:spcPts val="5280"/>
              </a:lnSpc>
              <a:buFont typeface="Arial"/>
              <a:buChar char="•"/>
            </a:pPr>
            <a:r>
              <a:rPr lang="en-US" sz="3000">
                <a:solidFill>
                  <a:srgbClr val="072B53"/>
                </a:solidFill>
                <a:latin typeface="Helvetica World"/>
                <a:ea typeface="Helvetica World"/>
                <a:cs typeface="Helvetica World"/>
                <a:sym typeface="Helvetica World"/>
              </a:rPr>
              <a:t>Task 6: Mid Semester Milestone Presentation (timeline: 1 week)</a:t>
            </a:r>
          </a:p>
          <a:p>
            <a:pPr marL="647700" lvl="1" indent="-323850" algn="l">
              <a:lnSpc>
                <a:spcPts val="5280"/>
              </a:lnSpc>
              <a:buFont typeface="Arial"/>
              <a:buChar char="•"/>
            </a:pPr>
            <a:r>
              <a:rPr lang="en-US" sz="3000">
                <a:solidFill>
                  <a:srgbClr val="072B53"/>
                </a:solidFill>
                <a:latin typeface="Helvetica World"/>
                <a:ea typeface="Helvetica World"/>
                <a:cs typeface="Helvetica World"/>
                <a:sym typeface="Helvetica World"/>
              </a:rPr>
              <a:t>Task 6: System Integration and Visualization (timeline: 2-3 weeks)</a:t>
            </a:r>
          </a:p>
          <a:p>
            <a:pPr marL="647700" lvl="1" indent="-323850" algn="l">
              <a:lnSpc>
                <a:spcPts val="5280"/>
              </a:lnSpc>
              <a:buFont typeface="Arial"/>
              <a:buChar char="•"/>
            </a:pPr>
            <a:r>
              <a:rPr lang="en-US" sz="3000">
                <a:solidFill>
                  <a:srgbClr val="072B53"/>
                </a:solidFill>
                <a:latin typeface="Helvetica World"/>
                <a:ea typeface="Helvetica World"/>
                <a:cs typeface="Helvetica World"/>
                <a:sym typeface="Helvetica World"/>
              </a:rPr>
              <a:t>Task 7: Testing, Evaluation, and Refinement (timeline: 1 week)</a:t>
            </a:r>
          </a:p>
          <a:p>
            <a:pPr marL="647700" lvl="1" indent="-323850" algn="l">
              <a:lnSpc>
                <a:spcPts val="5280"/>
              </a:lnSpc>
              <a:buFont typeface="Arial"/>
              <a:buChar char="•"/>
            </a:pPr>
            <a:r>
              <a:rPr lang="en-US" sz="3000">
                <a:solidFill>
                  <a:srgbClr val="072B53"/>
                </a:solidFill>
                <a:latin typeface="Helvetica World"/>
                <a:ea typeface="Helvetica World"/>
                <a:cs typeface="Helvetica World"/>
                <a:sym typeface="Helvetica World"/>
              </a:rPr>
              <a:t>Task 8: Preparing Bootcamp Presentation &amp; Activities (timeline: 1 week) </a:t>
            </a:r>
          </a:p>
          <a:p>
            <a:pPr marL="647700" lvl="1" indent="-323850" algn="l">
              <a:lnSpc>
                <a:spcPts val="5280"/>
              </a:lnSpc>
              <a:buFont typeface="Arial"/>
              <a:buChar char="•"/>
            </a:pPr>
            <a:r>
              <a:rPr lang="en-US" sz="3000">
                <a:solidFill>
                  <a:srgbClr val="072B53"/>
                </a:solidFill>
                <a:latin typeface="Helvetica World"/>
                <a:ea typeface="Helvetica World"/>
                <a:cs typeface="Helvetica World"/>
                <a:sym typeface="Helvetica World"/>
              </a:rPr>
              <a:t>Task 9: Final Presentation  (1/2 week)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2935"/>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8953500"/>
            <a:chOff x="0" y="0"/>
            <a:chExt cx="4465383" cy="2358123"/>
          </a:xfrm>
        </p:grpSpPr>
        <p:sp>
          <p:nvSpPr>
            <p:cNvPr id="3" name="Freeform 3"/>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A0D8EF"/>
            </a:solidFill>
            <a:ln cap="rnd">
              <a:noFill/>
              <a:prstDash val="solid"/>
              <a:round/>
            </a:ln>
          </p:spPr>
        </p:sp>
        <p:sp>
          <p:nvSpPr>
            <p:cNvPr id="4" name="TextBox 4"/>
            <p:cNvSpPr txBox="1"/>
            <p:nvPr/>
          </p:nvSpPr>
          <p:spPr>
            <a:xfrm>
              <a:off x="0" y="-38100"/>
              <a:ext cx="4465383" cy="2396223"/>
            </a:xfrm>
            <a:prstGeom prst="rect">
              <a:avLst/>
            </a:prstGeom>
          </p:spPr>
          <p:txBody>
            <a:bodyPr lIns="50800" tIns="50800" rIns="50800" bIns="50800" rtlCol="0" anchor="ctr"/>
            <a:lstStyle/>
            <a:p>
              <a:pPr marL="0" lvl="0" indent="0" algn="ctr">
                <a:lnSpc>
                  <a:spcPts val="3359"/>
                </a:lnSpc>
                <a:spcBef>
                  <a:spcPct val="0"/>
                </a:spcBef>
              </a:pPr>
              <a:endParaRPr/>
            </a:p>
          </p:txBody>
        </p:sp>
      </p:grpSp>
      <p:graphicFrame>
        <p:nvGraphicFramePr>
          <p:cNvPr id="5" name="Object 5"/>
          <p:cNvGraphicFramePr/>
          <p:nvPr>
            <p:extLst>
              <p:ext uri="{D42A27DB-BD31-4B8C-83A1-F6EECF244321}">
                <p14:modId xmlns:p14="http://schemas.microsoft.com/office/powerpoint/2010/main" val="3469629462"/>
              </p:ext>
            </p:extLst>
          </p:nvPr>
        </p:nvGraphicFramePr>
        <p:xfrm>
          <a:off x="-533400" y="952500"/>
          <a:ext cx="19354800" cy="9525000"/>
        </p:xfrm>
        <a:graphic>
          <a:graphicData uri="http://schemas.openxmlformats.org/presentationml/2006/ole">
            <mc:AlternateContent xmlns:mc="http://schemas.openxmlformats.org/markup-compatibility/2006">
              <mc:Choice xmlns:v="urn:schemas-microsoft-com:vml" Requires="v">
                <p:oleObj name="Worksheet" r:id="rId2" imgW="19608800" imgH="10388600" progId="Excel.Sheet.12">
                  <p:embed/>
                </p:oleObj>
              </mc:Choice>
              <mc:Fallback>
                <p:oleObj name="Worksheet" r:id="rId2" imgW="19608800" imgH="10388600" progId="Excel.Sheet.12">
                  <p:embed/>
                  <p:pic>
                    <p:nvPicPr>
                      <p:cNvPr id="0" name=""/>
                      <p:cNvPicPr/>
                      <p:nvPr/>
                    </p:nvPicPr>
                    <p:blipFill>
                      <a:blip r:embed="rId3"/>
                      <a:stretch>
                        <a:fillRect/>
                      </a:stretch>
                    </p:blipFill>
                    <p:spPr>
                      <a:xfrm>
                        <a:off x="-533400" y="952500"/>
                        <a:ext cx="19354800" cy="9525000"/>
                      </a:xfrm>
                      <a:prstGeom prst="rect">
                        <a:avLst/>
                      </a:prstGeom>
                    </p:spPr>
                  </p:pic>
                </p:oleObj>
              </mc:Fallback>
            </mc:AlternateContent>
          </a:graphicData>
        </a:graphic>
      </p:graphicFrame>
      <p:sp>
        <p:nvSpPr>
          <p:cNvPr id="6" name="TextBox 6"/>
          <p:cNvSpPr txBox="1"/>
          <p:nvPr/>
        </p:nvSpPr>
        <p:spPr>
          <a:xfrm>
            <a:off x="1028700" y="786432"/>
            <a:ext cx="11028176" cy="1043308"/>
          </a:xfrm>
          <a:prstGeom prst="rect">
            <a:avLst/>
          </a:prstGeom>
        </p:spPr>
        <p:txBody>
          <a:bodyPr lIns="0" tIns="0" rIns="0" bIns="0" rtlCol="0" anchor="t">
            <a:spAutoFit/>
          </a:bodyPr>
          <a:lstStyle/>
          <a:p>
            <a:pPr marL="0" lvl="0" indent="0" algn="l">
              <a:lnSpc>
                <a:spcPts val="7700"/>
              </a:lnSpc>
              <a:spcBef>
                <a:spcPct val="0"/>
              </a:spcBef>
            </a:pPr>
            <a:r>
              <a:rPr lang="en-US" sz="7700">
                <a:solidFill>
                  <a:srgbClr val="072B53"/>
                </a:solidFill>
                <a:latin typeface="Georgia Pro Condensed"/>
                <a:ea typeface="Georgia Pro Condensed"/>
                <a:cs typeface="Georgia Pro Condensed"/>
                <a:sym typeface="Georgia Pro Condensed"/>
              </a:rPr>
              <a:t>Tasks &amp; Timeline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2935"/>
        </a:solidFill>
        <a:effectLst/>
      </p:bgPr>
    </p:bg>
    <p:spTree>
      <p:nvGrpSpPr>
        <p:cNvPr id="1" name=""/>
        <p:cNvGrpSpPr/>
        <p:nvPr/>
      </p:nvGrpSpPr>
      <p:grpSpPr>
        <a:xfrm>
          <a:off x="0" y="0"/>
          <a:ext cx="0" cy="0"/>
          <a:chOff x="0" y="0"/>
          <a:chExt cx="0" cy="0"/>
        </a:xfrm>
      </p:grpSpPr>
      <p:sp>
        <p:nvSpPr>
          <p:cNvPr id="2" name="TextBox 2"/>
          <p:cNvSpPr txBox="1"/>
          <p:nvPr/>
        </p:nvSpPr>
        <p:spPr>
          <a:xfrm>
            <a:off x="17259300" y="9220200"/>
            <a:ext cx="152400" cy="190500"/>
          </a:xfrm>
          <a:prstGeom prst="rect">
            <a:avLst/>
          </a:prstGeom>
        </p:spPr>
        <p:txBody>
          <a:bodyPr wrap="none" lIns="0" tIns="0" rIns="0" bIns="0" rtlCol="0" anchor="t">
            <a:spAutoFit/>
          </a:bodyPr>
          <a:lstStyle/>
          <a:p>
            <a:pPr algn="ctr">
              <a:lnSpc>
                <a:spcPts val="2800"/>
              </a:lnSpc>
              <a:spcBef>
                <a:spcPct val="0"/>
              </a:spcBef>
            </a:pPr>
            <a:r>
              <a:rPr lang="en-US" sz="2000">
                <a:solidFill>
                  <a:srgbClr val="2CA58D"/>
                </a:solidFill>
                <a:latin typeface="Helvetica World"/>
                <a:ea typeface="Helvetica World"/>
                <a:cs typeface="Helvetica World"/>
                <a:sym typeface="Helvetica World"/>
              </a:rPr>
              <a:t>11</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A0D8EF"/>
            </a:solidFill>
            <a:ln cap="rnd">
              <a:noFill/>
              <a:prstDash val="solid"/>
              <a:round/>
            </a:ln>
          </p:spPr>
        </p:sp>
        <p:sp>
          <p:nvSpPr>
            <p:cNvPr id="5" name="TextBox 5"/>
            <p:cNvSpPr txBox="1"/>
            <p:nvPr/>
          </p:nvSpPr>
          <p:spPr>
            <a:xfrm>
              <a:off x="0" y="-38100"/>
              <a:ext cx="4465383" cy="2396223"/>
            </a:xfrm>
            <a:prstGeom prst="rect">
              <a:avLst/>
            </a:prstGeom>
          </p:spPr>
          <p:txBody>
            <a:bodyPr lIns="50800" tIns="50800" rIns="50800" bIns="50800" rtlCol="0" anchor="ctr"/>
            <a:lstStyle/>
            <a:p>
              <a:pPr marL="0" lvl="0" indent="0" algn="ctr">
                <a:lnSpc>
                  <a:spcPts val="3359"/>
                </a:lnSpc>
                <a:spcBef>
                  <a:spcPct val="0"/>
                </a:spcBef>
              </a:pPr>
              <a:endParaRPr/>
            </a:p>
          </p:txBody>
        </p:sp>
      </p:grpSp>
      <p:sp>
        <p:nvSpPr>
          <p:cNvPr id="6" name="TextBox 6"/>
          <p:cNvSpPr txBox="1"/>
          <p:nvPr/>
        </p:nvSpPr>
        <p:spPr>
          <a:xfrm>
            <a:off x="1800225" y="1476375"/>
            <a:ext cx="13249275" cy="1298575"/>
          </a:xfrm>
          <a:prstGeom prst="rect">
            <a:avLst/>
          </a:prstGeom>
        </p:spPr>
        <p:txBody>
          <a:bodyPr lIns="0" tIns="0" rIns="0" bIns="0" rtlCol="0" anchor="t">
            <a:spAutoFit/>
          </a:bodyPr>
          <a:lstStyle/>
          <a:p>
            <a:pPr marL="0" lvl="0" indent="0" algn="l">
              <a:lnSpc>
                <a:spcPts val="10400"/>
              </a:lnSpc>
            </a:pPr>
            <a:r>
              <a:rPr lang="en-US" sz="8000" spc="-240">
                <a:solidFill>
                  <a:srgbClr val="072B53"/>
                </a:solidFill>
                <a:latin typeface="Georgia Pro Condensed"/>
                <a:ea typeface="Georgia Pro Condensed"/>
                <a:cs typeface="Georgia Pro Condensed"/>
                <a:sym typeface="Georgia Pro Condensed"/>
              </a:rPr>
              <a:t>Intellectual Merit</a:t>
            </a:r>
          </a:p>
        </p:txBody>
      </p:sp>
      <p:sp>
        <p:nvSpPr>
          <p:cNvPr id="7" name="TextBox 7"/>
          <p:cNvSpPr txBox="1"/>
          <p:nvPr/>
        </p:nvSpPr>
        <p:spPr>
          <a:xfrm>
            <a:off x="1800225" y="2902902"/>
            <a:ext cx="14938365" cy="971550"/>
          </a:xfrm>
          <a:prstGeom prst="rect">
            <a:avLst/>
          </a:prstGeom>
        </p:spPr>
        <p:txBody>
          <a:bodyPr lIns="0" tIns="0" rIns="0" bIns="0" rtlCol="0" anchor="t">
            <a:spAutoFit/>
          </a:bodyPr>
          <a:lstStyle/>
          <a:p>
            <a:pPr marL="0" lvl="0" indent="0" algn="l">
              <a:lnSpc>
                <a:spcPts val="7679"/>
              </a:lnSpc>
              <a:spcBef>
                <a:spcPct val="0"/>
              </a:spcBef>
            </a:pPr>
            <a:r>
              <a:rPr lang="en-US" sz="6399" spc="-95">
                <a:solidFill>
                  <a:srgbClr val="1A2935"/>
                </a:solidFill>
                <a:latin typeface="Alex Brush"/>
                <a:ea typeface="Alex Brush"/>
                <a:cs typeface="Alex Brush"/>
                <a:sym typeface="Alex Brush"/>
              </a:rPr>
              <a:t>Unique, Interdisciplinary Approach to Grid Stability</a:t>
            </a:r>
          </a:p>
        </p:txBody>
      </p:sp>
      <p:grpSp>
        <p:nvGrpSpPr>
          <p:cNvPr id="8" name="Group 8"/>
          <p:cNvGrpSpPr/>
          <p:nvPr/>
        </p:nvGrpSpPr>
        <p:grpSpPr>
          <a:xfrm>
            <a:off x="1857500" y="4520359"/>
            <a:ext cx="4308497" cy="3291840"/>
            <a:chOff x="0" y="0"/>
            <a:chExt cx="5744662" cy="4389120"/>
          </a:xfrm>
        </p:grpSpPr>
        <p:sp>
          <p:nvSpPr>
            <p:cNvPr id="9" name="TextBox 9"/>
            <p:cNvSpPr txBox="1"/>
            <p:nvPr/>
          </p:nvSpPr>
          <p:spPr>
            <a:xfrm>
              <a:off x="0" y="9525"/>
              <a:ext cx="5744662" cy="523875"/>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1A2935"/>
                  </a:solidFill>
                  <a:latin typeface="Helvetica World Bold"/>
                  <a:ea typeface="Helvetica World Bold"/>
                  <a:cs typeface="Helvetica World Bold"/>
                  <a:sym typeface="Helvetica World Bold"/>
                </a:rPr>
                <a:t>Grid Stability</a:t>
              </a:r>
            </a:p>
          </p:txBody>
        </p:sp>
        <p:sp>
          <p:nvSpPr>
            <p:cNvPr id="10" name="TextBox 10"/>
            <p:cNvSpPr txBox="1"/>
            <p:nvPr/>
          </p:nvSpPr>
          <p:spPr>
            <a:xfrm>
              <a:off x="0" y="1079500"/>
              <a:ext cx="5744662" cy="3309620"/>
            </a:xfrm>
            <a:prstGeom prst="rect">
              <a:avLst/>
            </a:prstGeom>
          </p:spPr>
          <p:txBody>
            <a:bodyPr lIns="0" tIns="0" rIns="0" bIns="0" rtlCol="0" anchor="t">
              <a:spAutoFit/>
            </a:bodyPr>
            <a:lstStyle/>
            <a:p>
              <a:pPr marL="0" lvl="0" indent="0" algn="l">
                <a:lnSpc>
                  <a:spcPts val="3359"/>
                </a:lnSpc>
              </a:pPr>
              <a:r>
                <a:rPr lang="en-US" sz="2399" spc="-35">
                  <a:solidFill>
                    <a:srgbClr val="1A2935"/>
                  </a:solidFill>
                  <a:latin typeface="Helvetica World"/>
                  <a:ea typeface="Helvetica World"/>
                  <a:cs typeface="Helvetica World"/>
                  <a:sym typeface="Helvetica World"/>
                </a:rPr>
                <a:t>Fr</a:t>
              </a:r>
              <a:r>
                <a:rPr lang="en-US" sz="2399" u="none" strike="noStrike" spc="-35">
                  <a:solidFill>
                    <a:srgbClr val="1A2935"/>
                  </a:solidFill>
                  <a:latin typeface="Helvetica World"/>
                  <a:ea typeface="Helvetica World"/>
                  <a:cs typeface="Helvetica World"/>
                  <a:sym typeface="Helvetica World"/>
                </a:rPr>
                <a:t>om an energy systems perspective, the project illustrates how small, distributed load adjustments can be coordinated to support grid stability using time-series demand data/</a:t>
              </a:r>
            </a:p>
          </p:txBody>
        </p:sp>
      </p:grpSp>
      <p:grpSp>
        <p:nvGrpSpPr>
          <p:cNvPr id="11" name="Group 11"/>
          <p:cNvGrpSpPr/>
          <p:nvPr/>
        </p:nvGrpSpPr>
        <p:grpSpPr>
          <a:xfrm>
            <a:off x="6451661" y="4520359"/>
            <a:ext cx="5045554" cy="4130040"/>
            <a:chOff x="0" y="0"/>
            <a:chExt cx="6727406" cy="5506720"/>
          </a:xfrm>
        </p:grpSpPr>
        <p:sp>
          <p:nvSpPr>
            <p:cNvPr id="12" name="TextBox 12"/>
            <p:cNvSpPr txBox="1"/>
            <p:nvPr/>
          </p:nvSpPr>
          <p:spPr>
            <a:xfrm>
              <a:off x="0" y="9525"/>
              <a:ext cx="6727406" cy="523875"/>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1A2935"/>
                  </a:solidFill>
                  <a:latin typeface="Helvetica World Bold"/>
                  <a:ea typeface="Helvetica World Bold"/>
                  <a:cs typeface="Helvetica World Bold"/>
                  <a:sym typeface="Helvetica World Bold"/>
                </a:rPr>
                <a:t>Consumer-Side Privacy</a:t>
              </a:r>
            </a:p>
          </p:txBody>
        </p:sp>
        <p:sp>
          <p:nvSpPr>
            <p:cNvPr id="13" name="TextBox 13"/>
            <p:cNvSpPr txBox="1"/>
            <p:nvPr/>
          </p:nvSpPr>
          <p:spPr>
            <a:xfrm>
              <a:off x="0" y="1079500"/>
              <a:ext cx="6727406" cy="4427220"/>
            </a:xfrm>
            <a:prstGeom prst="rect">
              <a:avLst/>
            </a:prstGeom>
          </p:spPr>
          <p:txBody>
            <a:bodyPr lIns="0" tIns="0" rIns="0" bIns="0" rtlCol="0" anchor="t">
              <a:spAutoFit/>
            </a:bodyPr>
            <a:lstStyle/>
            <a:p>
              <a:pPr algn="l">
                <a:lnSpc>
                  <a:spcPts val="3359"/>
                </a:lnSpc>
              </a:pPr>
              <a:r>
                <a:rPr lang="en-US" sz="2399" spc="-35">
                  <a:solidFill>
                    <a:srgbClr val="1A2935"/>
                  </a:solidFill>
                  <a:latin typeface="Helvetica World"/>
                  <a:ea typeface="Helvetica World"/>
                  <a:cs typeface="Helvetica World"/>
                  <a:sym typeface="Helvetica World"/>
                </a:rPr>
                <a:t>Contains anonymized validation and secure communication workflows illustrating how system-wide coordination can occur without exposing sensitive individual data, addressing a key challenge in smart grid deployments.</a:t>
              </a:r>
            </a:p>
            <a:p>
              <a:pPr marL="0" lvl="0" indent="0" algn="l">
                <a:lnSpc>
                  <a:spcPts val="3359"/>
                </a:lnSpc>
              </a:pPr>
              <a:endParaRPr lang="en-US" sz="2399" spc="-35">
                <a:solidFill>
                  <a:srgbClr val="1A2935"/>
                </a:solidFill>
                <a:latin typeface="Helvetica World"/>
                <a:ea typeface="Helvetica World"/>
                <a:cs typeface="Helvetica World"/>
                <a:sym typeface="Helvetica World"/>
              </a:endParaRPr>
            </a:p>
          </p:txBody>
        </p:sp>
      </p:grpSp>
      <p:grpSp>
        <p:nvGrpSpPr>
          <p:cNvPr id="14" name="Group 14"/>
          <p:cNvGrpSpPr/>
          <p:nvPr/>
        </p:nvGrpSpPr>
        <p:grpSpPr>
          <a:xfrm>
            <a:off x="11782965" y="4520359"/>
            <a:ext cx="5476420" cy="3906520"/>
            <a:chOff x="0" y="0"/>
            <a:chExt cx="7301894" cy="5208693"/>
          </a:xfrm>
        </p:grpSpPr>
        <p:sp>
          <p:nvSpPr>
            <p:cNvPr id="15" name="TextBox 15"/>
            <p:cNvSpPr txBox="1"/>
            <p:nvPr/>
          </p:nvSpPr>
          <p:spPr>
            <a:xfrm>
              <a:off x="0" y="9525"/>
              <a:ext cx="7301894" cy="523875"/>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1A2935"/>
                  </a:solidFill>
                  <a:latin typeface="Helvetica World Bold"/>
                  <a:ea typeface="Helvetica World Bold"/>
                  <a:cs typeface="Helvetica World Bold"/>
                  <a:sym typeface="Helvetica World Bold"/>
                </a:rPr>
                <a:t>AI Techniques</a:t>
              </a:r>
            </a:p>
          </p:txBody>
        </p:sp>
        <p:sp>
          <p:nvSpPr>
            <p:cNvPr id="16" name="TextBox 16"/>
            <p:cNvSpPr txBox="1"/>
            <p:nvPr/>
          </p:nvSpPr>
          <p:spPr>
            <a:xfrm>
              <a:off x="0" y="1069975"/>
              <a:ext cx="7301894" cy="4138718"/>
            </a:xfrm>
            <a:prstGeom prst="rect">
              <a:avLst/>
            </a:prstGeom>
          </p:spPr>
          <p:txBody>
            <a:bodyPr lIns="0" tIns="0" rIns="0" bIns="0" rtlCol="0" anchor="t">
              <a:spAutoFit/>
            </a:bodyPr>
            <a:lstStyle/>
            <a:p>
              <a:pPr marL="0" lvl="0" indent="0" algn="l">
                <a:lnSpc>
                  <a:spcPts val="3079"/>
                </a:lnSpc>
              </a:pPr>
              <a:r>
                <a:rPr lang="en-US" sz="2199" spc="-32">
                  <a:solidFill>
                    <a:srgbClr val="1A2935"/>
                  </a:solidFill>
                  <a:latin typeface="Helvetica World"/>
                  <a:ea typeface="Helvetica World"/>
                  <a:cs typeface="Helvetica World"/>
                  <a:sym typeface="Helvetica World"/>
                </a:rPr>
                <a:t>Demonstrates how lightweight </a:t>
              </a:r>
              <a:r>
                <a:rPr lang="en-US" sz="2199" u="none" strike="noStrike" spc="-32">
                  <a:solidFill>
                    <a:srgbClr val="1A2935"/>
                  </a:solidFill>
                  <a:latin typeface="Helvetica World"/>
                  <a:ea typeface="Helvetica World"/>
                  <a:cs typeface="Helvetica World"/>
                  <a:sym typeface="Helvetica World"/>
                </a:rPr>
                <a:t>AI techniques can be effectively applied to real-world infrastructure problems. By emphasizing rule-based and trend-aware decision logic rather than complex black-box models, the system prioritizes transparency, and appropriateness for safety-critical domains such as energy systems. </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2935"/>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457450"/>
            <a:chOff x="0" y="0"/>
            <a:chExt cx="4816593" cy="647230"/>
          </a:xfrm>
        </p:grpSpPr>
        <p:sp>
          <p:nvSpPr>
            <p:cNvPr id="3" name="Freeform 3"/>
            <p:cNvSpPr/>
            <p:nvPr/>
          </p:nvSpPr>
          <p:spPr>
            <a:xfrm>
              <a:off x="0" y="0"/>
              <a:ext cx="4816592" cy="647230"/>
            </a:xfrm>
            <a:custGeom>
              <a:avLst/>
              <a:gdLst/>
              <a:ahLst/>
              <a:cxnLst/>
              <a:rect l="l" t="t" r="r" b="b"/>
              <a:pathLst>
                <a:path w="4816592" h="647230">
                  <a:moveTo>
                    <a:pt x="0" y="0"/>
                  </a:moveTo>
                  <a:lnTo>
                    <a:pt x="4816592" y="0"/>
                  </a:lnTo>
                  <a:lnTo>
                    <a:pt x="4816592" y="647230"/>
                  </a:lnTo>
                  <a:lnTo>
                    <a:pt x="0" y="647230"/>
                  </a:lnTo>
                  <a:close/>
                </a:path>
              </a:pathLst>
            </a:custGeom>
            <a:solidFill>
              <a:srgbClr val="A0D8EF"/>
            </a:solidFill>
          </p:spPr>
        </p:sp>
        <p:sp>
          <p:nvSpPr>
            <p:cNvPr id="4" name="TextBox 4"/>
            <p:cNvSpPr txBox="1"/>
            <p:nvPr/>
          </p:nvSpPr>
          <p:spPr>
            <a:xfrm>
              <a:off x="0" y="-38100"/>
              <a:ext cx="4816593" cy="685330"/>
            </a:xfrm>
            <a:prstGeom prst="rect">
              <a:avLst/>
            </a:prstGeom>
          </p:spPr>
          <p:txBody>
            <a:bodyPr lIns="50800" tIns="50800" rIns="50800" bIns="50800" rtlCol="0" anchor="ctr"/>
            <a:lstStyle/>
            <a:p>
              <a:pPr algn="ctr">
                <a:lnSpc>
                  <a:spcPts val="2800"/>
                </a:lnSpc>
              </a:pPr>
              <a:endParaRPr/>
            </a:p>
          </p:txBody>
        </p:sp>
      </p:grpSp>
      <p:sp>
        <p:nvSpPr>
          <p:cNvPr id="5" name="TextBox 5"/>
          <p:cNvSpPr txBox="1"/>
          <p:nvPr/>
        </p:nvSpPr>
        <p:spPr>
          <a:xfrm>
            <a:off x="666750" y="3133725"/>
            <a:ext cx="11156641" cy="6448425"/>
          </a:xfrm>
          <a:prstGeom prst="rect">
            <a:avLst/>
          </a:prstGeom>
        </p:spPr>
        <p:txBody>
          <a:bodyPr lIns="0" tIns="0" rIns="0" bIns="0" rtlCol="0" anchor="t">
            <a:spAutoFit/>
          </a:bodyPr>
          <a:lstStyle/>
          <a:p>
            <a:pPr algn="l">
              <a:lnSpc>
                <a:spcPts val="2760"/>
              </a:lnSpc>
              <a:spcBef>
                <a:spcPct val="0"/>
              </a:spcBef>
            </a:pPr>
            <a:r>
              <a:rPr lang="en-US" sz="2300" b="1" spc="-34">
                <a:solidFill>
                  <a:srgbClr val="FFFFFF"/>
                </a:solidFill>
                <a:latin typeface="Helvetica World Bold"/>
                <a:ea typeface="Helvetica World Bold"/>
                <a:cs typeface="Helvetica World Bold"/>
                <a:sym typeface="Helvetica World Bold"/>
              </a:rPr>
              <a:t>By demonstrating privacy-preserving approaches to energy coordination, the project promotes </a:t>
            </a:r>
            <a:r>
              <a:rPr lang="en-US" sz="2300" b="1" spc="-34">
                <a:solidFill>
                  <a:srgbClr val="FDBD00"/>
                </a:solidFill>
                <a:latin typeface="Helvetica World Bold"/>
                <a:ea typeface="Helvetica World Bold"/>
                <a:cs typeface="Helvetica World Bold"/>
                <a:sym typeface="Helvetica World Bold"/>
              </a:rPr>
              <a:t>consumer confidence in smart grid technologies.</a:t>
            </a:r>
            <a:r>
              <a:rPr lang="en-US" sz="2300" b="1" spc="-34">
                <a:solidFill>
                  <a:srgbClr val="FFFFFF"/>
                </a:solidFill>
                <a:latin typeface="Helvetica World Bold"/>
                <a:ea typeface="Helvetica World Bold"/>
                <a:cs typeface="Helvetica World Bold"/>
                <a:sym typeface="Helvetica World Bold"/>
              </a:rPr>
              <a:t> The project will demonstrate that grid support mechanisms do not require invasive monitoring or control by utility providers.</a:t>
            </a:r>
          </a:p>
          <a:p>
            <a:pPr algn="l">
              <a:lnSpc>
                <a:spcPts val="2760"/>
              </a:lnSpc>
              <a:spcBef>
                <a:spcPct val="0"/>
              </a:spcBef>
            </a:pPr>
            <a:r>
              <a:rPr lang="en-US" sz="2300" b="1" spc="-34">
                <a:solidFill>
                  <a:srgbClr val="FFFFFF"/>
                </a:solidFill>
                <a:latin typeface="Helvetica World Bold"/>
                <a:ea typeface="Helvetica World Bold"/>
                <a:cs typeface="Helvetica World Bold"/>
                <a:sym typeface="Helvetica World Bold"/>
              </a:rPr>
              <a:t> </a:t>
            </a:r>
          </a:p>
          <a:p>
            <a:pPr algn="l">
              <a:lnSpc>
                <a:spcPts val="2760"/>
              </a:lnSpc>
              <a:spcBef>
                <a:spcPct val="0"/>
              </a:spcBef>
            </a:pPr>
            <a:r>
              <a:rPr lang="en-US" sz="2300" b="1" spc="-34">
                <a:solidFill>
                  <a:srgbClr val="FFFFFF"/>
                </a:solidFill>
                <a:latin typeface="Helvetica World Bold"/>
                <a:ea typeface="Helvetica World Bold"/>
                <a:cs typeface="Helvetica World Bold"/>
                <a:sym typeface="Helvetica World Bold"/>
              </a:rPr>
              <a:t>The project also contributes to </a:t>
            </a:r>
            <a:r>
              <a:rPr lang="en-US" sz="2300" b="1" spc="-34">
                <a:solidFill>
                  <a:srgbClr val="FDBD00"/>
                </a:solidFill>
                <a:latin typeface="Helvetica World Bold"/>
                <a:ea typeface="Helvetica World Bold"/>
                <a:cs typeface="Helvetica World Bold"/>
                <a:sym typeface="Helvetica World Bold"/>
              </a:rPr>
              <a:t>energy sustainability and resilience</a:t>
            </a:r>
            <a:r>
              <a:rPr lang="en-US" sz="2300" b="1" spc="-34">
                <a:solidFill>
                  <a:srgbClr val="FFFFFF"/>
                </a:solidFill>
                <a:latin typeface="Helvetica World Bold"/>
                <a:ea typeface="Helvetica World Bold"/>
                <a:cs typeface="Helvetica World Bold"/>
                <a:sym typeface="Helvetica World Bold"/>
              </a:rPr>
              <a:t> by highlighting how coordinated, low-impact actions across many users can reduce peak demand and </a:t>
            </a:r>
            <a:r>
              <a:rPr lang="en-US" sz="2300" b="1" spc="-34">
                <a:solidFill>
                  <a:srgbClr val="FDBD00"/>
                </a:solidFill>
                <a:latin typeface="Helvetica World Bold"/>
                <a:ea typeface="Helvetica World Bold"/>
                <a:cs typeface="Helvetica World Bold"/>
                <a:sym typeface="Helvetica World Bold"/>
              </a:rPr>
              <a:t>improve grid stability</a:t>
            </a:r>
            <a:r>
              <a:rPr lang="en-US" sz="2300" b="1" spc="-34">
                <a:solidFill>
                  <a:srgbClr val="FFFFFF"/>
                </a:solidFill>
                <a:latin typeface="Helvetica World Bold"/>
                <a:ea typeface="Helvetica World Bold"/>
                <a:cs typeface="Helvetica World Bold"/>
                <a:sym typeface="Helvetica World Bold"/>
              </a:rPr>
              <a:t>. </a:t>
            </a:r>
          </a:p>
          <a:p>
            <a:pPr algn="l">
              <a:lnSpc>
                <a:spcPts val="2760"/>
              </a:lnSpc>
              <a:spcBef>
                <a:spcPct val="0"/>
              </a:spcBef>
            </a:pPr>
            <a:endParaRPr lang="en-US" sz="2300" b="1" spc="-34">
              <a:solidFill>
                <a:srgbClr val="FFFFFF"/>
              </a:solidFill>
              <a:latin typeface="Helvetica World Bold"/>
              <a:ea typeface="Helvetica World Bold"/>
              <a:cs typeface="Helvetica World Bold"/>
              <a:sym typeface="Helvetica World Bold"/>
            </a:endParaRPr>
          </a:p>
          <a:p>
            <a:pPr algn="l">
              <a:lnSpc>
                <a:spcPts val="2760"/>
              </a:lnSpc>
              <a:spcBef>
                <a:spcPct val="0"/>
              </a:spcBef>
            </a:pPr>
            <a:r>
              <a:rPr lang="en-US" sz="2300" b="1" spc="-34">
                <a:solidFill>
                  <a:srgbClr val="FFFFFF"/>
                </a:solidFill>
                <a:latin typeface="Helvetica World Bold"/>
                <a:ea typeface="Helvetica World Bold"/>
                <a:cs typeface="Helvetica World Bold"/>
                <a:sym typeface="Helvetica World Bold"/>
              </a:rPr>
              <a:t>From an educational and workforce development perspective, the project provides a clear, accessible example of </a:t>
            </a:r>
            <a:r>
              <a:rPr lang="en-US" sz="2300" b="1" spc="-34">
                <a:solidFill>
                  <a:srgbClr val="FDBD00"/>
                </a:solidFill>
                <a:latin typeface="Helvetica World Bold"/>
                <a:ea typeface="Helvetica World Bold"/>
                <a:cs typeface="Helvetica World Bold"/>
                <a:sym typeface="Helvetica World Bold"/>
              </a:rPr>
              <a:t>how AI, cybersecurity, and energy concepts intersect in practice</a:t>
            </a:r>
            <a:r>
              <a:rPr lang="en-US" sz="2300" b="1" spc="-34">
                <a:solidFill>
                  <a:srgbClr val="FFFFFF"/>
                </a:solidFill>
                <a:latin typeface="Helvetica World Bold"/>
                <a:ea typeface="Helvetica World Bold"/>
                <a:cs typeface="Helvetica World Bold"/>
                <a:sym typeface="Helvetica World Bold"/>
              </a:rPr>
              <a:t>.</a:t>
            </a:r>
          </a:p>
          <a:p>
            <a:pPr algn="l">
              <a:lnSpc>
                <a:spcPts val="2760"/>
              </a:lnSpc>
              <a:spcBef>
                <a:spcPct val="0"/>
              </a:spcBef>
            </a:pPr>
            <a:r>
              <a:rPr lang="en-US" sz="2300" b="1" spc="-34">
                <a:solidFill>
                  <a:srgbClr val="FFFFFF"/>
                </a:solidFill>
                <a:latin typeface="Helvetica World Bold"/>
                <a:ea typeface="Helvetica World Bold"/>
                <a:cs typeface="Helvetica World Bold"/>
                <a:sym typeface="Helvetica World Bold"/>
              </a:rPr>
              <a:t> </a:t>
            </a:r>
          </a:p>
          <a:p>
            <a:pPr algn="l">
              <a:lnSpc>
                <a:spcPts val="2760"/>
              </a:lnSpc>
              <a:spcBef>
                <a:spcPct val="0"/>
              </a:spcBef>
            </a:pPr>
            <a:r>
              <a:rPr lang="en-US" sz="2300" b="1" spc="-34">
                <a:solidFill>
                  <a:srgbClr val="FFFFFF"/>
                </a:solidFill>
                <a:latin typeface="Helvetica World Bold"/>
                <a:ea typeface="Helvetica World Bold"/>
                <a:cs typeface="Helvetica World Bold"/>
                <a:sym typeface="Helvetica World Bold"/>
              </a:rPr>
              <a:t>The project encourages </a:t>
            </a:r>
            <a:r>
              <a:rPr lang="en-US" sz="2300" b="1" spc="-34">
                <a:solidFill>
                  <a:srgbClr val="FDBD00"/>
                </a:solidFill>
                <a:latin typeface="Helvetica World Bold"/>
                <a:ea typeface="Helvetica World Bold"/>
                <a:cs typeface="Helvetica World Bold"/>
                <a:sym typeface="Helvetica World Bold"/>
              </a:rPr>
              <a:t>responsible AI adoption</a:t>
            </a:r>
            <a:r>
              <a:rPr lang="en-US" sz="2300" b="1" spc="-34">
                <a:solidFill>
                  <a:srgbClr val="FFFFFF"/>
                </a:solidFill>
                <a:latin typeface="Helvetica World Bold"/>
                <a:ea typeface="Helvetica World Bold"/>
                <a:cs typeface="Helvetica World Bold"/>
                <a:sym typeface="Helvetica World Bold"/>
              </a:rPr>
              <a:t> by modeling systems that are aligned with societal values. By emphasizing privacy and minimal intrusion, the project supports broader efforts to develop trustworthy intelligent systems that serve the public good.</a:t>
            </a:r>
          </a:p>
        </p:txBody>
      </p:sp>
      <p:sp>
        <p:nvSpPr>
          <p:cNvPr id="6" name="Freeform 6"/>
          <p:cNvSpPr/>
          <p:nvPr/>
        </p:nvSpPr>
        <p:spPr>
          <a:xfrm>
            <a:off x="13209651" y="4305300"/>
            <a:ext cx="4049649" cy="4114800"/>
          </a:xfrm>
          <a:custGeom>
            <a:avLst/>
            <a:gdLst/>
            <a:ahLst/>
            <a:cxnLst/>
            <a:rect l="l" t="t" r="r" b="b"/>
            <a:pathLst>
              <a:path w="4049649" h="4114800">
                <a:moveTo>
                  <a:pt x="0" y="0"/>
                </a:moveTo>
                <a:lnTo>
                  <a:pt x="4049649" y="0"/>
                </a:lnTo>
                <a:lnTo>
                  <a:pt x="404964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666750" y="809625"/>
            <a:ext cx="16954500" cy="1069976"/>
          </a:xfrm>
          <a:prstGeom prst="rect">
            <a:avLst/>
          </a:prstGeom>
        </p:spPr>
        <p:txBody>
          <a:bodyPr lIns="0" tIns="0" rIns="0" bIns="0" rtlCol="0" anchor="t">
            <a:spAutoFit/>
          </a:bodyPr>
          <a:lstStyle/>
          <a:p>
            <a:pPr marL="0" lvl="0" indent="0" algn="l">
              <a:lnSpc>
                <a:spcPts val="8000"/>
              </a:lnSpc>
            </a:pPr>
            <a:r>
              <a:rPr lang="en-US" sz="8000" spc="-240">
                <a:solidFill>
                  <a:srgbClr val="1A2935"/>
                </a:solidFill>
                <a:latin typeface="Georgia Pro Condensed"/>
                <a:ea typeface="Georgia Pro Condensed"/>
                <a:cs typeface="Georgia Pro Condensed"/>
                <a:sym typeface="Georgia Pro Condensed"/>
              </a:rPr>
              <a:t>Broader Impacts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2935"/>
        </a:solidFill>
        <a:effectLst/>
      </p:bgPr>
    </p:bg>
    <p:spTree>
      <p:nvGrpSpPr>
        <p:cNvPr id="1" name=""/>
        <p:cNvGrpSpPr/>
        <p:nvPr/>
      </p:nvGrpSpPr>
      <p:grpSpPr>
        <a:xfrm>
          <a:off x="0" y="0"/>
          <a:ext cx="0" cy="0"/>
          <a:chOff x="0" y="0"/>
          <a:chExt cx="0" cy="0"/>
        </a:xfrm>
      </p:grpSpPr>
      <p:grpSp>
        <p:nvGrpSpPr>
          <p:cNvPr id="5" name="Group 5"/>
          <p:cNvGrpSpPr/>
          <p:nvPr/>
        </p:nvGrpSpPr>
        <p:grpSpPr>
          <a:xfrm>
            <a:off x="13030200" y="2628900"/>
            <a:ext cx="5534074" cy="6123771"/>
            <a:chOff x="0" y="0"/>
            <a:chExt cx="1220873" cy="1350966"/>
          </a:xfrm>
        </p:grpSpPr>
        <p:sp>
          <p:nvSpPr>
            <p:cNvPr id="6" name="Freeform 6"/>
            <p:cNvSpPr/>
            <p:nvPr/>
          </p:nvSpPr>
          <p:spPr>
            <a:xfrm>
              <a:off x="0" y="0"/>
              <a:ext cx="1220873" cy="1350966"/>
            </a:xfrm>
            <a:custGeom>
              <a:avLst/>
              <a:gdLst/>
              <a:ahLst/>
              <a:cxnLst/>
              <a:rect l="l" t="t" r="r" b="b"/>
              <a:pathLst>
                <a:path w="1220873" h="1350966">
                  <a:moveTo>
                    <a:pt x="0" y="0"/>
                  </a:moveTo>
                  <a:lnTo>
                    <a:pt x="1220873" y="0"/>
                  </a:lnTo>
                  <a:lnTo>
                    <a:pt x="1220873" y="1350966"/>
                  </a:lnTo>
                  <a:lnTo>
                    <a:pt x="0" y="1350966"/>
                  </a:lnTo>
                  <a:close/>
                </a:path>
              </a:pathLst>
            </a:custGeom>
            <a:blipFill>
              <a:blip r:embed="rId2"/>
              <a:stretch>
                <a:fillRect l="-417" r="-417"/>
              </a:stretch>
            </a:blipFill>
          </p:spPr>
        </p:sp>
      </p:grpSp>
      <p:sp>
        <p:nvSpPr>
          <p:cNvPr id="7" name="TextBox 7"/>
          <p:cNvSpPr txBox="1"/>
          <p:nvPr/>
        </p:nvSpPr>
        <p:spPr>
          <a:xfrm>
            <a:off x="666750" y="428986"/>
            <a:ext cx="17435711" cy="1069976"/>
          </a:xfrm>
          <a:prstGeom prst="rect">
            <a:avLst/>
          </a:prstGeom>
        </p:spPr>
        <p:txBody>
          <a:bodyPr lIns="0" tIns="0" rIns="0" bIns="0" rtlCol="0" anchor="t">
            <a:spAutoFit/>
          </a:bodyPr>
          <a:lstStyle/>
          <a:p>
            <a:pPr marL="0" lvl="0" indent="0" algn="l">
              <a:lnSpc>
                <a:spcPts val="8000"/>
              </a:lnSpc>
              <a:spcBef>
                <a:spcPct val="0"/>
              </a:spcBef>
            </a:pPr>
            <a:r>
              <a:rPr lang="en-US" sz="8000" u="none" strike="noStrike">
                <a:solidFill>
                  <a:srgbClr val="4FB6E1"/>
                </a:solidFill>
                <a:latin typeface="Georgia Pro Condensed"/>
                <a:ea typeface="Georgia Pro Condensed"/>
                <a:cs typeface="Georgia Pro Condensed"/>
                <a:sym typeface="Georgia Pro Condensed"/>
              </a:rPr>
              <a:t>Addressing Project Risks and Alternatives</a:t>
            </a:r>
          </a:p>
        </p:txBody>
      </p:sp>
      <p:sp>
        <p:nvSpPr>
          <p:cNvPr id="8" name="TextBox 8"/>
          <p:cNvSpPr txBox="1"/>
          <p:nvPr/>
        </p:nvSpPr>
        <p:spPr>
          <a:xfrm>
            <a:off x="666750" y="1939172"/>
            <a:ext cx="12921234" cy="8489950"/>
          </a:xfrm>
          <a:prstGeom prst="rect">
            <a:avLst/>
          </a:prstGeom>
        </p:spPr>
        <p:txBody>
          <a:bodyPr lIns="0" tIns="0" rIns="0" bIns="0" rtlCol="0" anchor="t">
            <a:spAutoFit/>
          </a:bodyPr>
          <a:lstStyle/>
          <a:p>
            <a:pPr marL="0" lvl="0" indent="0" algn="l">
              <a:lnSpc>
                <a:spcPts val="3499"/>
              </a:lnSpc>
            </a:pPr>
            <a:r>
              <a:rPr lang="en-US" sz="2499" spc="-37">
                <a:solidFill>
                  <a:srgbClr val="E1B382"/>
                </a:solidFill>
                <a:latin typeface="Helvetica World"/>
                <a:ea typeface="Helvetica World"/>
                <a:cs typeface="Helvetica World"/>
                <a:sym typeface="Helvetica World"/>
              </a:rPr>
              <a:t>Publicly available energy </a:t>
            </a:r>
            <a:r>
              <a:rPr lang="en-US" sz="2499" b="1" spc="-37">
                <a:solidFill>
                  <a:srgbClr val="FFFFFF"/>
                </a:solidFill>
                <a:latin typeface="Helvetica World Bold"/>
                <a:ea typeface="Helvetica World Bold"/>
                <a:cs typeface="Helvetica World Bold"/>
                <a:sym typeface="Helvetica World Bold"/>
              </a:rPr>
              <a:t>datasets may be incomplete or too noisy</a:t>
            </a:r>
            <a:r>
              <a:rPr lang="en-US" sz="2499" spc="-37">
                <a:solidFill>
                  <a:srgbClr val="E1B382"/>
                </a:solidFill>
                <a:latin typeface="Helvetica World"/>
                <a:ea typeface="Helvetica World"/>
                <a:cs typeface="Helvetica World"/>
                <a:sym typeface="Helvetica World"/>
              </a:rPr>
              <a:t> to adequately represent grid behavior. </a:t>
            </a:r>
            <a:r>
              <a:rPr lang="en-US" sz="2499" u="none" strike="noStrike" spc="-37">
                <a:solidFill>
                  <a:srgbClr val="E1B382"/>
                </a:solidFill>
                <a:latin typeface="Helvetica World"/>
                <a:ea typeface="Helvetica World"/>
                <a:cs typeface="Helvetica World"/>
                <a:sym typeface="Helvetica World"/>
              </a:rPr>
              <a:t>If real-world datasets prove insufficient, the project will supplement or replace them with synthetically generated time-series data that reflects typical demand patterns.</a:t>
            </a:r>
          </a:p>
          <a:p>
            <a:pPr marL="0" lvl="0" indent="0" algn="l">
              <a:lnSpc>
                <a:spcPts val="3499"/>
              </a:lnSpc>
            </a:pPr>
            <a:endParaRPr lang="en-US" sz="2499" u="none" strike="noStrike" spc="-37">
              <a:solidFill>
                <a:srgbClr val="E1B382"/>
              </a:solidFill>
              <a:latin typeface="Helvetica World"/>
              <a:ea typeface="Helvetica World"/>
              <a:cs typeface="Helvetica World"/>
              <a:sym typeface="Helvetica World"/>
            </a:endParaRPr>
          </a:p>
          <a:p>
            <a:pPr marL="0" lvl="0" indent="0" algn="l">
              <a:lnSpc>
                <a:spcPts val="3499"/>
              </a:lnSpc>
            </a:pPr>
            <a:r>
              <a:rPr lang="en-US" sz="2499" u="none" strike="noStrike" spc="-37">
                <a:solidFill>
                  <a:srgbClr val="E1B382"/>
                </a:solidFill>
                <a:latin typeface="Helvetica World"/>
                <a:ea typeface="Helvetica World"/>
                <a:cs typeface="Helvetica World"/>
                <a:sym typeface="Helvetica World"/>
              </a:rPr>
              <a:t>The</a:t>
            </a:r>
            <a:r>
              <a:rPr lang="en-US" sz="2499" b="1" u="none" strike="noStrike" spc="-37">
                <a:solidFill>
                  <a:srgbClr val="FFFFFF"/>
                </a:solidFill>
                <a:latin typeface="Helvetica World Bold"/>
                <a:ea typeface="Helvetica World Bold"/>
                <a:cs typeface="Helvetica World Bold"/>
                <a:sym typeface="Helvetica World Bold"/>
              </a:rPr>
              <a:t> AI component may be either too simplistic</a:t>
            </a:r>
            <a:r>
              <a:rPr lang="en-US" sz="2499" u="none" strike="noStrike" spc="-37">
                <a:solidFill>
                  <a:srgbClr val="E1B382"/>
                </a:solidFill>
                <a:latin typeface="Helvetica World"/>
                <a:ea typeface="Helvetica World"/>
                <a:cs typeface="Helvetica World"/>
                <a:sym typeface="Helvetica World"/>
              </a:rPr>
              <a:t> to demonstrate meaningful system behavior or too complex to remain interpretable and aligned with project goals. The project will adopt an iterative AI design approach, starting with a consumption predictor and some form of ruleset and then progressively adding trend-based or predictive elements only if they improve clarity and usefulness.</a:t>
            </a:r>
          </a:p>
          <a:p>
            <a:pPr marL="0" lvl="0" indent="0" algn="l">
              <a:lnSpc>
                <a:spcPts val="3499"/>
              </a:lnSpc>
            </a:pPr>
            <a:endParaRPr lang="en-US" sz="2499" u="none" strike="noStrike" spc="-37">
              <a:solidFill>
                <a:srgbClr val="E1B382"/>
              </a:solidFill>
              <a:latin typeface="Helvetica World"/>
              <a:ea typeface="Helvetica World"/>
              <a:cs typeface="Helvetica World"/>
              <a:sym typeface="Helvetica World"/>
            </a:endParaRPr>
          </a:p>
          <a:p>
            <a:pPr marL="0" lvl="0" indent="0" algn="l">
              <a:lnSpc>
                <a:spcPts val="3499"/>
              </a:lnSpc>
            </a:pPr>
            <a:r>
              <a:rPr lang="en-US" sz="2499" u="none" strike="noStrike" spc="-37">
                <a:solidFill>
                  <a:srgbClr val="E1B382"/>
                </a:solidFill>
                <a:latin typeface="Helvetica World"/>
                <a:ea typeface="Helvetica World"/>
                <a:cs typeface="Helvetica World"/>
                <a:sym typeface="Helvetica World"/>
              </a:rPr>
              <a:t>Developing a live-updating </a:t>
            </a:r>
            <a:r>
              <a:rPr lang="en-US" sz="2499" b="1" u="none" strike="noStrike" spc="-37">
                <a:solidFill>
                  <a:srgbClr val="FFFFFF"/>
                </a:solidFill>
                <a:latin typeface="Helvetica World Bold"/>
                <a:ea typeface="Helvetica World Bold"/>
                <a:cs typeface="Helvetica World Bold"/>
                <a:sym typeface="Helvetica World Bold"/>
              </a:rPr>
              <a:t>visualization may require more time or technical effort</a:t>
            </a:r>
            <a:r>
              <a:rPr lang="en-US" sz="2499" u="none" strike="noStrike" spc="-37">
                <a:solidFill>
                  <a:srgbClr val="E1B382"/>
                </a:solidFill>
                <a:latin typeface="Helvetica World"/>
                <a:ea typeface="Helvetica World"/>
                <a:cs typeface="Helvetica World"/>
                <a:sym typeface="Helvetica World"/>
              </a:rPr>
              <a:t> than anticipated. If real-time dashboards are not feasible, the project will use static or step-based visualizations.</a:t>
            </a:r>
          </a:p>
          <a:p>
            <a:pPr marL="0" lvl="0" indent="0" algn="l">
              <a:lnSpc>
                <a:spcPts val="3499"/>
              </a:lnSpc>
            </a:pPr>
            <a:endParaRPr lang="en-US" sz="2499" u="none" strike="noStrike" spc="-37">
              <a:solidFill>
                <a:srgbClr val="E1B382"/>
              </a:solidFill>
              <a:latin typeface="Helvetica World"/>
              <a:ea typeface="Helvetica World"/>
              <a:cs typeface="Helvetica World"/>
              <a:sym typeface="Helvetica World"/>
            </a:endParaRPr>
          </a:p>
          <a:p>
            <a:pPr marL="0" lvl="0" indent="0" algn="l">
              <a:lnSpc>
                <a:spcPts val="3499"/>
              </a:lnSpc>
            </a:pPr>
            <a:r>
              <a:rPr lang="en-US" sz="2499" b="1" u="none" strike="noStrike" spc="-37">
                <a:solidFill>
                  <a:srgbClr val="FFFFFF"/>
                </a:solidFill>
                <a:latin typeface="Helvetica World Bold"/>
                <a:ea typeface="Helvetica World Bold"/>
                <a:cs typeface="Helvetica World Bold"/>
                <a:sym typeface="Helvetica World Bold"/>
              </a:rPr>
              <a:t>Limited project duration or overlapping responsibilities may affect progress across tasks</a:t>
            </a:r>
            <a:r>
              <a:rPr lang="en-US" sz="2499" u="none" strike="noStrike" spc="-37">
                <a:solidFill>
                  <a:srgbClr val="E1B382"/>
                </a:solidFill>
                <a:latin typeface="Helvetica World"/>
                <a:ea typeface="Helvetica World"/>
                <a:cs typeface="Helvetica World"/>
                <a:sym typeface="Helvetica World"/>
              </a:rPr>
              <a:t>. Tasks will be prioritized to ensure core project objectives are met first, including energy demonstration and AI decision logic. Optional or enhancement features will be deferred if necessary, and responsibilities will be rebalanced within the team to maintain progress.</a:t>
            </a:r>
          </a:p>
          <a:p>
            <a:pPr marL="0" lvl="0" indent="0" algn="l">
              <a:lnSpc>
                <a:spcPts val="3499"/>
              </a:lnSpc>
            </a:pPr>
            <a:endParaRPr lang="en-US" sz="2499" u="none" strike="noStrike" spc="-37">
              <a:solidFill>
                <a:srgbClr val="E1B382"/>
              </a:solidFill>
              <a:latin typeface="Helvetica World"/>
              <a:ea typeface="Helvetica World"/>
              <a:cs typeface="Helvetica World"/>
              <a:sym typeface="Helvetica Wor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2935"/>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7858125" cy="10287000"/>
            <a:chOff x="0" y="0"/>
            <a:chExt cx="1031988" cy="1350966"/>
          </a:xfrm>
        </p:grpSpPr>
        <p:sp>
          <p:nvSpPr>
            <p:cNvPr id="3" name="Freeform 3"/>
            <p:cNvSpPr/>
            <p:nvPr/>
          </p:nvSpPr>
          <p:spPr>
            <a:xfrm>
              <a:off x="0" y="0"/>
              <a:ext cx="1031988" cy="1350966"/>
            </a:xfrm>
            <a:custGeom>
              <a:avLst/>
              <a:gdLst/>
              <a:ahLst/>
              <a:cxnLst/>
              <a:rect l="l" t="t" r="r" b="b"/>
              <a:pathLst>
                <a:path w="1031988" h="1350966">
                  <a:moveTo>
                    <a:pt x="0" y="0"/>
                  </a:moveTo>
                  <a:lnTo>
                    <a:pt x="1031988" y="0"/>
                  </a:lnTo>
                  <a:lnTo>
                    <a:pt x="1031988" y="1350966"/>
                  </a:lnTo>
                  <a:lnTo>
                    <a:pt x="0" y="1350966"/>
                  </a:lnTo>
                  <a:close/>
                </a:path>
              </a:pathLst>
            </a:custGeom>
            <a:solidFill>
              <a:srgbClr val="4FB6E1"/>
            </a:solidFill>
          </p:spPr>
        </p:sp>
      </p:grpSp>
      <p:grpSp>
        <p:nvGrpSpPr>
          <p:cNvPr id="4" name="Group 4"/>
          <p:cNvGrpSpPr/>
          <p:nvPr/>
        </p:nvGrpSpPr>
        <p:grpSpPr>
          <a:xfrm>
            <a:off x="1052512" y="666750"/>
            <a:ext cx="5753100" cy="8953500"/>
            <a:chOff x="0" y="0"/>
            <a:chExt cx="814724" cy="1267949"/>
          </a:xfrm>
        </p:grpSpPr>
        <p:sp>
          <p:nvSpPr>
            <p:cNvPr id="5" name="Freeform 5"/>
            <p:cNvSpPr/>
            <p:nvPr/>
          </p:nvSpPr>
          <p:spPr>
            <a:xfrm>
              <a:off x="0" y="0"/>
              <a:ext cx="814724" cy="1267949"/>
            </a:xfrm>
            <a:custGeom>
              <a:avLst/>
              <a:gdLst/>
              <a:ahLst/>
              <a:cxnLst/>
              <a:rect l="l" t="t" r="r" b="b"/>
              <a:pathLst>
                <a:path w="814724" h="1267949">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2"/>
              <a:stretch>
                <a:fillRect l="-66794" r="-66794"/>
              </a:stretch>
            </a:blipFill>
          </p:spPr>
        </p:sp>
      </p:grpSp>
      <p:sp>
        <p:nvSpPr>
          <p:cNvPr id="6" name="TextBox 6"/>
          <p:cNvSpPr txBox="1"/>
          <p:nvPr/>
        </p:nvSpPr>
        <p:spPr>
          <a:xfrm>
            <a:off x="9296400" y="9011285"/>
            <a:ext cx="8324850" cy="608965"/>
          </a:xfrm>
          <a:prstGeom prst="rect">
            <a:avLst/>
          </a:prstGeom>
        </p:spPr>
        <p:txBody>
          <a:bodyPr lIns="0" tIns="0" rIns="0" bIns="0" rtlCol="0" anchor="t">
            <a:spAutoFit/>
          </a:bodyPr>
          <a:lstStyle/>
          <a:p>
            <a:pPr marL="0" lvl="0" indent="0" algn="ctr">
              <a:lnSpc>
                <a:spcPts val="4940"/>
              </a:lnSpc>
            </a:pPr>
            <a:r>
              <a:rPr lang="en-US" sz="3800" spc="-57">
                <a:solidFill>
                  <a:srgbClr val="E1B382"/>
                </a:solidFill>
                <a:latin typeface="Helvetica World"/>
                <a:ea typeface="Helvetica World"/>
                <a:cs typeface="Helvetica World"/>
                <a:sym typeface="Helvetica World"/>
              </a:rPr>
              <a:t>Thank you for your attention!</a:t>
            </a:r>
          </a:p>
        </p:txBody>
      </p:sp>
      <p:sp>
        <p:nvSpPr>
          <p:cNvPr id="7" name="TextBox 7"/>
          <p:cNvSpPr txBox="1"/>
          <p:nvPr/>
        </p:nvSpPr>
        <p:spPr>
          <a:xfrm>
            <a:off x="9303759" y="942975"/>
            <a:ext cx="8317491" cy="1999134"/>
          </a:xfrm>
          <a:prstGeom prst="rect">
            <a:avLst/>
          </a:prstGeom>
        </p:spPr>
        <p:txBody>
          <a:bodyPr lIns="0" tIns="0" rIns="0" bIns="0" rtlCol="0" anchor="t">
            <a:spAutoFit/>
          </a:bodyPr>
          <a:lstStyle/>
          <a:p>
            <a:pPr marL="0" lvl="0" indent="0" algn="l">
              <a:lnSpc>
                <a:spcPts val="14956"/>
              </a:lnSpc>
            </a:pPr>
            <a:r>
              <a:rPr lang="en-US" sz="14956" spc="-523">
                <a:solidFill>
                  <a:srgbClr val="4FB6E1"/>
                </a:solidFill>
                <a:latin typeface="Georgia Pro Condensed"/>
                <a:ea typeface="Georgia Pro Condensed"/>
                <a:cs typeface="Georgia Pro Condensed"/>
                <a:sym typeface="Georgia Pro Condensed"/>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FE979EAA421BE4C8B872ADAA00D32BF" ma:contentTypeVersion="3" ma:contentTypeDescription="Create a new document." ma:contentTypeScope="" ma:versionID="f503d7c7be991e6f15e626a388f98391">
  <xsd:schema xmlns:xsd="http://www.w3.org/2001/XMLSchema" xmlns:xs="http://www.w3.org/2001/XMLSchema" xmlns:p="http://schemas.microsoft.com/office/2006/metadata/properties" xmlns:ns2="23bfb651-0cf1-4b41-9bec-cfad35d0c453" targetNamespace="http://schemas.microsoft.com/office/2006/metadata/properties" ma:root="true" ma:fieldsID="d042471773e77953b2ccf09a1fece45c" ns2:_="">
    <xsd:import namespace="23bfb651-0cf1-4b41-9bec-cfad35d0c45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3bfb651-0cf1-4b41-9bec-cfad35d0c45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367C27D-1626-4784-AF02-721B0EC6E7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3bfb651-0cf1-4b41-9bec-cfad35d0c45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75ED4A8-11A8-4398-8DD4-5018C55E59C2}">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7BD43335-4B95-41D6-95EB-1687FDC76E4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TotalTime>
  <Words>1005</Words>
  <Application>Microsoft Office PowerPoint</Application>
  <PresentationFormat>Custom</PresentationFormat>
  <Paragraphs>102</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VoltWatch: Secure AI Monitoring</dc:title>
  <dc:description>Presentation - VoltWatch: Secure AI Monitoring</dc:description>
  <cp:lastModifiedBy>Crockett, April</cp:lastModifiedBy>
  <cp:revision>4</cp:revision>
  <dcterms:created xsi:type="dcterms:W3CDTF">2006-08-16T00:00:00Z</dcterms:created>
  <dcterms:modified xsi:type="dcterms:W3CDTF">2026-02-15T22:48:29Z</dcterms:modified>
  <dc:identifier>DAHBFFgxTuE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0x0101008FE979EAA421BE4C8B872ADAA00D32BF</vt:lpwstr>
  </property>
</Properties>
</file>